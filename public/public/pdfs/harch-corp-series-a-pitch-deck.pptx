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Brief intro: Harch Corp is Africa's sovereign infrastructure OS.
- Set the stage — we're raising $200M Series A in Q1 2029.
- Mention the $2.4B pipeline across 8 subsidiaries as proof of scope.
- Frame as an Apple-style opening: confident, minimal, declarative.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Emphasize the paradox — Africa holds the resources, but value is extracted by others.
- 30% of minerals mined elsewhere = raw-export model, no downstream value.
- 95% AI compute in US/China — Africa locked out of the next industrial revolution.
- 400M without clean water shows infrastructure is the binding constraint.
- Set up the solution: a vertically integrated system captures the value domestically.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Vertical integration is the moat — each subsidiary feeds the others.
- Energy powers Intelligence; Mining feeds Cement; Water enables Agri.
- $2.4B total pipeline across 5 African countries.
- Sequence matters: Intelligence + Energy anchored first for cash generation.
- Eight subsidiaries = eight revenue lines, one operating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Morocco is the only African country with all four advantages simultaneously.
- BB+ rating = institutional capital comfort; rare on the continent.
- 8ms latency to Europe enables AI inference exports at premium SLAs.
- $14/MWh solar LCOE undercuts European grid by 3-4×.
- Regulatory trio (82-21, 84-21, 13-21) de-risks PPP and renewable zones.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Sequential deployment avoids dilution and capital overstretch.
- Phase 1 anchors Intelligence + Energy — cash-generating core.
- Phase 2–3 cash flow self-finances later phases.
- Only $7M external equity needed beyond this Series A.
- Phase 5 (2030) reaches $650M — exit-ready scale across all verticals.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Not a concept — Harch is already running infrastructure today.
- 1,798 GPUs in production proves the intelligence stack works at scale.
- 2 GW+ renewable pipeline locked in — the energy moat is real, not aspirational.
- 309 pages of open-data research = transparency as a competitive weapon.
- 47 gCO2/kWh is 89% below industry average — net-zero proof, not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Each moat reinforces the others — this is a compound advantage, not five isolated ones.
- $14/MWh energy cost is the structural anchor — 3–4× cheaper than EU grids.
- Vertical integration eliminates third-party margin leakage across 8 subsidiaries.
- HarchOS proprietary stack is the connective tissue — hard to replicate at scale.
- Build-in-Public transparency converts trust into a defensible brand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EBITDA positive by 2029, 32% margin by 2030.
- 2028 revenue of $185M anchored by the Intelligence subsidiary ramp.
- 2029 inflection — Energy and Mining cash flows begin to compound.
- 2030 target of $680M revenue at 32% margin = exit-ready scale.
- IRR 20–30% with WACC 5.8% delivers +14–24 pt spread vs hurdle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Clear allocation — each dollar mapped to a subsidiary.
- 40% to Intelligence ($80M) protects the highest-ROI asset.
- 25% to Energy pipeline ($50M) secures the structural cost moat.
- $800M post-money valuation, 18-month runway to Series B.
- Lead investor takes board seat + 2 additional independent seats.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Strong founder, experienced advisors, clear recruitment plan.
- Founder Amine Harch El Korane — architect of the 8-subsidiary thesis.
- Board of 7: balanced 3 independent / 2 PE / 2 founder seats.
- Advisory from ex-OCP, ex-MASEN, ex-ONEE — Morocco's national champions.
- Eight subsidiary CEO roles mapped to specific target employer profiles.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Not greenwashing — real net-zero through dedicated renewables, not offset purchasing.
 - 2030 target, no offsets: Harch owns the renewable capacity behind every electron.
 - 89% below industry carbon intensity — measurable, audited, open data.
 - 3,200 jobs by 2030 with 90% local hiring — economic transformation, not extraction.
 - Certified to ISO 14001, LEED, BREEAM, SBTi. All research published CC BY-NC-SA.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Clear ask: $200M Series A at $800M post-money valuation.
 - Lead investor sought — board seat and information rights on offer.
 - 18-month runway to Series B, with $2.4B pipeline already committed.
 - Ready to close Q1 2029 — terms simple, structure clean.
 - Direct line: ir@harchcorp.com / +212 5 22 00 00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Thank investors for their time and consideration.
 - Invite them to review our open data: 309 pages, 26 videos, CC BY-NC-SA.
 - Emphasize transparency as our differentiator — we publish what others hide.
 - Direct contact: amine@harchcorp.com — always available.
 - Looking forward to building the future of African infrastructure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0" y="-1285875"/>
            <a:ext cx="4000500" cy="4000500"/>
          </a:xfrm>
          <a:prstGeom prst="roundRect">
            <a:avLst>
              <a:gd name="adj" fmla="val 2380714"/>
            </a:avLst>
          </a:prstGeom>
          <a:solidFill>
            <a:srgbClr val="8B9DA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428750" y="2714625"/>
            <a:ext cx="4000500" cy="4000500"/>
          </a:xfrm>
          <a:prstGeom prst="roundRect">
            <a:avLst>
              <a:gd name="adj" fmla="val 2380714"/>
            </a:avLst>
          </a:prstGeom>
          <a:solidFill>
            <a:srgbClr val="8B9DA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89509" y="-210741"/>
            <a:ext cx="5564981" cy="5564981"/>
          </a:xfrm>
          <a:prstGeom prst="roundRect">
            <a:avLst>
              <a:gd name="adj" fmla="val 1711425"/>
            </a:avLst>
          </a:prstGeom>
          <a:noFill/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7947" y="-1282303"/>
            <a:ext cx="7708106" cy="7708106"/>
          </a:xfrm>
          <a:prstGeom prst="roundRect">
            <a:avLst>
              <a:gd name="adj" fmla="val 1235589"/>
            </a:avLst>
          </a:prstGeom>
          <a:noFill/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92919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8B9DAF"/>
          </a:solidFill>
          <a:ln/>
          <a:effectLst>
            <a:outerShdw sx="100000" sy="100000" kx="0" ky="0" algn="bl" rotWithShape="0" blurRad="114300" dist="50800" dir="16200000">
              <a:srgbClr val="8B9DAF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0075" y="457200"/>
            <a:ext cx="23947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A1A1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SERIES A —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246441" y="457200"/>
            <a:ext cx="18975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62" kern="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PITCH DECK · 01 /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0" y="955477"/>
            <a:ext cx="8636000" cy="2772918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50800" dir="16200000">
              <a:srgbClr val="8B9DAF">
                <a:alpha val="40000"/>
              </a:srgbClr>
            </a:outerShdw>
          </a:effectLst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125"/>
              </a:lnSpc>
              <a:buNone/>
            </a:pPr>
            <a:r>
              <a:rPr lang="en-US" sz="11250" b="1" spc="-67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11250" dirty="0"/>
          </a:p>
        </p:txBody>
      </p:sp>
      <p:sp>
        <p:nvSpPr>
          <p:cNvPr id="10" name="Text 8"/>
          <p:cNvSpPr/>
          <p:nvPr/>
        </p:nvSpPr>
        <p:spPr>
          <a:xfrm>
            <a:off x="2750567" y="3870127"/>
            <a:ext cx="342900" cy="7144"/>
          </a:xfrm>
          <a:prstGeom prst="rect">
            <a:avLst/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98633" y="3755827"/>
            <a:ext cx="294662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spc="50" kern="0" dirty="0">
                <a:solidFill>
                  <a:srgbClr val="8B9D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Africa's Sovereign Infrastructure OS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6050421" y="3870127"/>
            <a:ext cx="342900" cy="7144"/>
          </a:xfrm>
          <a:prstGeom prst="rect">
            <a:avLst/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4379119"/>
            <a:ext cx="228583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7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CAPITAL RAISE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4525566"/>
            <a:ext cx="187665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34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$200M Series A · Q1 2029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4576242" y="436125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205883" y="4546997"/>
            <a:ext cx="11143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A1A1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harchcorp.com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33494" y="4379119"/>
            <a:ext cx="82805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7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PIPELINE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77794" y="4525566"/>
            <a:ext cx="172026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34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$2.4B · 8 Subsidiaries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820745" y="4854178"/>
            <a:ext cx="15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57250" y="-857250"/>
            <a:ext cx="2714625" cy="2714625"/>
          </a:xfrm>
          <a:prstGeom prst="roundRect">
            <a:avLst>
              <a:gd name="adj" fmla="val 3508421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7568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00354" y="462558"/>
            <a:ext cx="18436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HARCH CORP · SERIES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71538"/>
            <a:ext cx="342900" cy="21431"/>
          </a:xfrm>
          <a:prstGeom prst="roundRect">
            <a:avLst>
              <a:gd name="adj" fmla="val 88890"/>
            </a:avLst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064419"/>
            <a:ext cx="8636000" cy="883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3038" spc="-61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Africa has the resources.</a:t>
            </a:r>
            <a:endParaRPr lang="en-US" sz="3038" dirty="0"/>
          </a:p>
          <a:p>
            <a:pPr algn="l" indent="0" marL="0">
              <a:lnSpc>
                <a:spcPts val="3220"/>
              </a:lnSpc>
              <a:buNone/>
            </a:pPr>
            <a:r>
              <a:rPr lang="en-US" sz="3038" spc="-61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</a:t>
            </a:r>
            <a:pPr algn="l" indent="0" marL="0">
              <a:lnSpc>
                <a:spcPts val="3220"/>
              </a:lnSpc>
              <a:buNone/>
            </a:pPr>
            <a:r>
              <a:rPr lang="en-US" sz="3038" spc="-61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3220"/>
              </a:lnSpc>
              <a:buNone/>
            </a:pPr>
            <a:r>
              <a:rPr lang="en-US" sz="3038" spc="-61" kern="0" dirty="0">
                <a:solidFill>
                  <a:srgbClr val="8B9D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infrastructure.</a:t>
            </a:r>
            <a:endParaRPr lang="en-US" sz="3038" dirty="0"/>
          </a:p>
        </p:txBody>
      </p:sp>
      <p:sp>
        <p:nvSpPr>
          <p:cNvPr id="7" name="Text 5"/>
          <p:cNvSpPr/>
          <p:nvPr/>
        </p:nvSpPr>
        <p:spPr>
          <a:xfrm>
            <a:off x="457200" y="1996455"/>
            <a:ext cx="4572000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continent holding a third of the planet's strategic resources — yet value is extracted, refined, and computed elsewhere.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460772" y="2550096"/>
            <a:ext cx="4036219" cy="1092994"/>
          </a:xfrm>
          <a:prstGeom prst="roundRect">
            <a:avLst>
              <a:gd name="adj" fmla="val 15686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2944" y="2753692"/>
            <a:ext cx="1561267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</a:t>
            </a:r>
            <a:pPr algn="l" indent="0" marL="0">
              <a:lnSpc>
                <a:spcPts val="5400"/>
              </a:lnSpc>
              <a:buNone/>
            </a:pPr>
            <a:r>
              <a:rPr lang="en-US" sz="3038" b="1" spc="-216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840185" y="28778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011635" y="2876029"/>
            <a:ext cx="22531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MINERALS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40185" y="3022476"/>
            <a:ext cx="2424633" cy="31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44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global critical minerals are mined elsewhere — cobalt, lithium, copper extracted as raw ore.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4647009" y="2550096"/>
            <a:ext cx="4036219" cy="1092994"/>
          </a:xfrm>
          <a:prstGeom prst="roundRect">
            <a:avLst>
              <a:gd name="adj" fmla="val 15686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9181" y="2753692"/>
            <a:ext cx="1561267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</a:t>
            </a:r>
            <a:pPr algn="l" indent="0" marL="0">
              <a:lnSpc>
                <a:spcPts val="5400"/>
              </a:lnSpc>
              <a:buNone/>
            </a:pPr>
            <a:r>
              <a:rPr lang="en-US" sz="3038" b="1" spc="-216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026423" y="28778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197873" y="2876029"/>
            <a:ext cx="22531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ARABLE LAND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26423" y="3022476"/>
            <a:ext cx="2424633" cy="31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44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the world's uncultivated arable land sits in Africa — idle, not monetized.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460772" y="3793108"/>
            <a:ext cx="4036219" cy="1092994"/>
          </a:xfrm>
          <a:prstGeom prst="roundRect">
            <a:avLst>
              <a:gd name="adj" fmla="val 15686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2944" y="3996705"/>
            <a:ext cx="1561267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</a:t>
            </a:r>
            <a:pPr algn="l" indent="0" marL="0">
              <a:lnSpc>
                <a:spcPts val="5400"/>
              </a:lnSpc>
              <a:buNone/>
            </a:pPr>
            <a:r>
              <a:rPr lang="en-US" sz="3038" b="1" spc="-216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1840185" y="412082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011635" y="4119042"/>
            <a:ext cx="22531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AI COMPUTE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40185" y="4265488"/>
            <a:ext cx="2424633" cy="31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44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global AI compute capacity is concentrated in the US and China — Africa is structurally excluded.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4647009" y="3793108"/>
            <a:ext cx="4036219" cy="1092994"/>
          </a:xfrm>
          <a:prstGeom prst="roundRect">
            <a:avLst>
              <a:gd name="adj" fmla="val 15686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9181" y="3996705"/>
            <a:ext cx="213669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400</a:t>
            </a:r>
            <a:pPr algn="l" indent="0" marL="0">
              <a:lnSpc>
                <a:spcPts val="5400"/>
              </a:lnSpc>
              <a:buNone/>
            </a:pPr>
            <a:r>
              <a:rPr lang="en-US" sz="2700" b="1" spc="-216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6386066" y="404715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557516" y="4045372"/>
            <a:ext cx="18935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CLEAN WATER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86066" y="4191819"/>
            <a:ext cx="2064990" cy="477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44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people on the continent lack reliable access to clean water — a basic infrastructural failure.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820745" y="4854178"/>
            <a:ext cx="15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3000375"/>
            <a:ext cx="3429000" cy="3429000"/>
          </a:xfrm>
          <a:prstGeom prst="roundRect">
            <a:avLst>
              <a:gd name="adj" fmla="val 2777500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3952280"/>
            <a:ext cx="82296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68288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00354" y="462558"/>
            <a:ext cx="18436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HARCH CORP · SERIES 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14388"/>
            <a:ext cx="342900" cy="21431"/>
          </a:xfrm>
          <a:prstGeom prst="roundRect">
            <a:avLst>
              <a:gd name="adj" fmla="val 88890"/>
            </a:avLst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007269"/>
            <a:ext cx="4763765" cy="376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3"/>
              </a:lnSpc>
              <a:buNone/>
            </a:pPr>
            <a:r>
              <a:rPr lang="en-US" sz="2588" spc="-52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system. </a:t>
            </a:r>
            <a:pPr algn="l" indent="0" marL="0">
              <a:lnSpc>
                <a:spcPts val="2743"/>
              </a:lnSpc>
              <a:buNone/>
            </a:pPr>
            <a:r>
              <a:rPr lang="en-US" sz="2588" spc="-52" kern="0" dirty="0">
                <a:solidFill>
                  <a:srgbClr val="8B9D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Eight subsidiaries.</a:t>
            </a:r>
            <a:endParaRPr lang="en-US" sz="2588" dirty="0"/>
          </a:p>
        </p:txBody>
      </p:sp>
      <p:sp>
        <p:nvSpPr>
          <p:cNvPr id="8" name="Text 6"/>
          <p:cNvSpPr/>
          <p:nvPr/>
        </p:nvSpPr>
        <p:spPr>
          <a:xfrm>
            <a:off x="6257925" y="1076920"/>
            <a:ext cx="24288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subsidiary feeds the next — vertical integration is the moat.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772" y="1530548"/>
            <a:ext cx="1985963" cy="1089422"/>
          </a:xfrm>
          <a:prstGeom prst="roundRect">
            <a:avLst>
              <a:gd name="adj" fmla="val 1224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14228" y="163413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3F3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7219" y="16627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792956" y="1673423"/>
            <a:ext cx="150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SECTOR · AI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7219" y="1848445"/>
            <a:ext cx="169306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25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Intelligence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607219" y="2098477"/>
            <a:ext cx="1693069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spc="-38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$1.14B</a:t>
            </a:r>
            <a:endParaRPr lang="en-US" sz="1913" dirty="0"/>
          </a:p>
        </p:txBody>
      </p:sp>
      <p:sp>
        <p:nvSpPr>
          <p:cNvPr id="15" name="Text 13"/>
          <p:cNvSpPr/>
          <p:nvPr/>
        </p:nvSpPr>
        <p:spPr>
          <a:xfrm>
            <a:off x="607219" y="2369939"/>
            <a:ext cx="16930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GPU clusters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39603" y="1530548"/>
            <a:ext cx="1985963" cy="1089422"/>
          </a:xfrm>
          <a:prstGeom prst="roundRect">
            <a:avLst>
              <a:gd name="adj" fmla="val 1224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93059" y="163413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3F3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86050" y="16627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2871788" y="1673423"/>
            <a:ext cx="150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SECTOR · POWER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86050" y="1848445"/>
            <a:ext cx="169306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25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Energy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2686050" y="2098477"/>
            <a:ext cx="1693069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spc="-38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$680M</a:t>
            </a:r>
            <a:endParaRPr lang="en-US" sz="1913" dirty="0"/>
          </a:p>
        </p:txBody>
      </p:sp>
      <p:sp>
        <p:nvSpPr>
          <p:cNvPr id="22" name="Text 20"/>
          <p:cNvSpPr/>
          <p:nvPr/>
        </p:nvSpPr>
        <p:spPr>
          <a:xfrm>
            <a:off x="2686050" y="2369939"/>
            <a:ext cx="16930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Solar + Wind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18434" y="1530548"/>
            <a:ext cx="1985963" cy="1089422"/>
          </a:xfrm>
          <a:prstGeom prst="roundRect">
            <a:avLst>
              <a:gd name="adj" fmla="val 1224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1890" y="163413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3F3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64881" y="16627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4950619" y="1673423"/>
            <a:ext cx="150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SECTOR · MINERALS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64881" y="1848445"/>
            <a:ext cx="169306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25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Mining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4764881" y="2098477"/>
            <a:ext cx="1693069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spc="-38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$220M</a:t>
            </a:r>
            <a:endParaRPr lang="en-US" sz="1913" dirty="0"/>
          </a:p>
        </p:txBody>
      </p:sp>
      <p:sp>
        <p:nvSpPr>
          <p:cNvPr id="29" name="Text 27"/>
          <p:cNvSpPr/>
          <p:nvPr/>
        </p:nvSpPr>
        <p:spPr>
          <a:xfrm>
            <a:off x="4764881" y="2369939"/>
            <a:ext cx="16930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Critical ores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97266" y="1530548"/>
            <a:ext cx="1985963" cy="1089422"/>
          </a:xfrm>
          <a:prstGeom prst="roundRect">
            <a:avLst>
              <a:gd name="adj" fmla="val 1224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450721" y="163413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3F3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43713" y="166270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7029450" y="1673423"/>
            <a:ext cx="150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SECTOR · UTILITIES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43713" y="1848445"/>
            <a:ext cx="169306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25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Water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6843713" y="2098477"/>
            <a:ext cx="1693069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spc="-38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$180M</a:t>
            </a:r>
            <a:endParaRPr lang="en-US" sz="1913" dirty="0"/>
          </a:p>
        </p:txBody>
      </p:sp>
      <p:sp>
        <p:nvSpPr>
          <p:cNvPr id="36" name="Text 34"/>
          <p:cNvSpPr/>
          <p:nvPr/>
        </p:nvSpPr>
        <p:spPr>
          <a:xfrm>
            <a:off x="6843713" y="2369939"/>
            <a:ext cx="16930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Desalination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0772" y="2712839"/>
            <a:ext cx="1985963" cy="1089422"/>
          </a:xfrm>
          <a:prstGeom prst="roundRect">
            <a:avLst>
              <a:gd name="adj" fmla="val 1224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214228" y="281642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3F3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7219" y="28449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792956" y="2855714"/>
            <a:ext cx="150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SECTOR · FOOD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7219" y="3030736"/>
            <a:ext cx="169306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25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Agri</a:t>
            </a:r>
            <a:endParaRPr lang="en-US" sz="1013" dirty="0"/>
          </a:p>
        </p:txBody>
      </p:sp>
      <p:sp>
        <p:nvSpPr>
          <p:cNvPr id="42" name="Text 40"/>
          <p:cNvSpPr/>
          <p:nvPr/>
        </p:nvSpPr>
        <p:spPr>
          <a:xfrm>
            <a:off x="607219" y="3280767"/>
            <a:ext cx="1693069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spc="-38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$140M</a:t>
            </a:r>
            <a:endParaRPr lang="en-US" sz="1913" dirty="0"/>
          </a:p>
        </p:txBody>
      </p:sp>
      <p:sp>
        <p:nvSpPr>
          <p:cNvPr id="43" name="Text 41"/>
          <p:cNvSpPr/>
          <p:nvPr/>
        </p:nvSpPr>
        <p:spPr>
          <a:xfrm>
            <a:off x="607219" y="3552230"/>
            <a:ext cx="16930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Smart farming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39603" y="2712839"/>
            <a:ext cx="1985963" cy="1089422"/>
          </a:xfrm>
          <a:prstGeom prst="roundRect">
            <a:avLst>
              <a:gd name="adj" fmla="val 1224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293059" y="281642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3F3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86050" y="28449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2871788" y="2855714"/>
            <a:ext cx="150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SECTOR · MATERIALS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86050" y="3030736"/>
            <a:ext cx="169306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25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Cement</a:t>
            </a:r>
            <a:endParaRPr lang="en-US" sz="1013" dirty="0"/>
          </a:p>
        </p:txBody>
      </p:sp>
      <p:sp>
        <p:nvSpPr>
          <p:cNvPr id="49" name="Text 47"/>
          <p:cNvSpPr/>
          <p:nvPr/>
        </p:nvSpPr>
        <p:spPr>
          <a:xfrm>
            <a:off x="2686050" y="3280767"/>
            <a:ext cx="1693069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spc="-38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$95M</a:t>
            </a:r>
            <a:endParaRPr lang="en-US" sz="1913" dirty="0"/>
          </a:p>
        </p:txBody>
      </p:sp>
      <p:sp>
        <p:nvSpPr>
          <p:cNvPr id="50" name="Text 48"/>
          <p:cNvSpPr/>
          <p:nvPr/>
        </p:nvSpPr>
        <p:spPr>
          <a:xfrm>
            <a:off x="2686050" y="3552230"/>
            <a:ext cx="16930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Low-carbon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18434" y="2712839"/>
            <a:ext cx="1985963" cy="1089422"/>
          </a:xfrm>
          <a:prstGeom prst="roundRect">
            <a:avLst>
              <a:gd name="adj" fmla="val 1224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371890" y="281642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3F3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64881" y="28449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4" name="Text 52"/>
          <p:cNvSpPr/>
          <p:nvPr/>
        </p:nvSpPr>
        <p:spPr>
          <a:xfrm>
            <a:off x="4950619" y="2855714"/>
            <a:ext cx="150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SECTOR · SOFTWARE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64881" y="3030736"/>
            <a:ext cx="169306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25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Technology</a:t>
            </a:r>
            <a:endParaRPr lang="en-US" sz="1013" dirty="0"/>
          </a:p>
        </p:txBody>
      </p:sp>
      <p:sp>
        <p:nvSpPr>
          <p:cNvPr id="56" name="Text 54"/>
          <p:cNvSpPr/>
          <p:nvPr/>
        </p:nvSpPr>
        <p:spPr>
          <a:xfrm>
            <a:off x="4764881" y="3280767"/>
            <a:ext cx="1693069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spc="-38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$45M</a:t>
            </a:r>
            <a:endParaRPr lang="en-US" sz="1913" dirty="0"/>
          </a:p>
        </p:txBody>
      </p:sp>
      <p:sp>
        <p:nvSpPr>
          <p:cNvPr id="57" name="Text 55"/>
          <p:cNvSpPr/>
          <p:nvPr/>
        </p:nvSpPr>
        <p:spPr>
          <a:xfrm>
            <a:off x="4764881" y="3552230"/>
            <a:ext cx="16930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HarchOS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697266" y="2712839"/>
            <a:ext cx="1985963" cy="1089422"/>
          </a:xfrm>
          <a:prstGeom prst="roundRect">
            <a:avLst>
              <a:gd name="adj" fmla="val 1224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450721" y="281642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3F3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843713" y="28449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266" dirty="0"/>
          </a:p>
        </p:txBody>
      </p:sp>
      <p:sp>
        <p:nvSpPr>
          <p:cNvPr id="61" name="Text 59"/>
          <p:cNvSpPr/>
          <p:nvPr/>
        </p:nvSpPr>
        <p:spPr>
          <a:xfrm>
            <a:off x="7029450" y="2855714"/>
            <a:ext cx="150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SECTOR · CAPITAL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43713" y="3030736"/>
            <a:ext cx="169306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25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Finance</a:t>
            </a:r>
            <a:endParaRPr lang="en-US" sz="1013" dirty="0"/>
          </a:p>
        </p:txBody>
      </p:sp>
      <p:sp>
        <p:nvSpPr>
          <p:cNvPr id="63" name="Text 61"/>
          <p:cNvSpPr/>
          <p:nvPr/>
        </p:nvSpPr>
        <p:spPr>
          <a:xfrm>
            <a:off x="6843713" y="3280767"/>
            <a:ext cx="1693069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b="1" spc="-38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$20M</a:t>
            </a:r>
            <a:endParaRPr lang="en-US" sz="1913" dirty="0"/>
          </a:p>
        </p:txBody>
      </p:sp>
      <p:sp>
        <p:nvSpPr>
          <p:cNvPr id="64" name="Text 62"/>
          <p:cNvSpPr/>
          <p:nvPr/>
        </p:nvSpPr>
        <p:spPr>
          <a:xfrm>
            <a:off x="6843713" y="3552230"/>
            <a:ext cx="169306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Treasury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57200" y="4070152"/>
            <a:ext cx="82313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$2.4B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1028812" y="4163020"/>
            <a:ext cx="116780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TOTAL PIPELINE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080506" y="4127302"/>
            <a:ext cx="7144" cy="1428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2259099" y="4070152"/>
            <a:ext cx="1646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2419164" y="4163020"/>
            <a:ext cx="81191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COUNTRIES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156533" y="4127302"/>
            <a:ext cx="7144" cy="1428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3335127" y="4070152"/>
            <a:ext cx="1646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3495191" y="4163020"/>
            <a:ext cx="10010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SUBSIDIARIES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479939" y="4139803"/>
            <a:ext cx="23165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VERTICAL INTEGRATION · COMPOUND MOAT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820745" y="4854178"/>
            <a:ext cx="15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6625" y="-714375"/>
            <a:ext cx="2714625" cy="2714625"/>
          </a:xfrm>
          <a:prstGeom prst="roundRect">
            <a:avLst>
              <a:gd name="adj" fmla="val 3508421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2608138"/>
            <a:ext cx="39719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185889"/>
            <a:ext cx="39719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763640"/>
            <a:ext cx="39719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68288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MARKET OPPORTUNITY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00354" y="462558"/>
            <a:ext cx="18436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HARCH CORP · SERIES 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14388"/>
            <a:ext cx="342900" cy="21431"/>
          </a:xfrm>
          <a:prstGeom prst="roundRect">
            <a:avLst>
              <a:gd name="adj" fmla="val 88890"/>
            </a:avLst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1007269"/>
            <a:ext cx="3971925" cy="69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1"/>
              </a:lnSpc>
              <a:buNone/>
            </a:pPr>
            <a:r>
              <a:rPr lang="en-US" sz="2363" spc="-47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Morocco: </a:t>
            </a:r>
            <a:pPr algn="l" indent="0" marL="0">
              <a:lnSpc>
                <a:spcPts val="2551"/>
              </a:lnSpc>
              <a:buNone/>
            </a:pPr>
            <a:r>
              <a:rPr lang="en-US" sz="2363" spc="-47" kern="0" dirty="0">
                <a:solidFill>
                  <a:srgbClr val="8B9D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strategic platform.</a:t>
            </a:r>
            <a:endParaRPr lang="en-US" sz="2363" dirty="0"/>
          </a:p>
        </p:txBody>
      </p:sp>
      <p:sp>
        <p:nvSpPr>
          <p:cNvPr id="10" name="Text 8"/>
          <p:cNvSpPr/>
          <p:nvPr/>
        </p:nvSpPr>
        <p:spPr>
          <a:xfrm>
            <a:off x="457200" y="1741066"/>
            <a:ext cx="3971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only African country with all four advantages simultaneously.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0772" y="2137544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2562" y="216933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814388" y="2133972"/>
            <a:ext cx="41165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AFAF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BB+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157399" y="2205410"/>
            <a:ext cx="32717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S&amp;P RATING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4388" y="2376860"/>
            <a:ext cx="3614738" cy="12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sovereign credit rating in Africa — investment-grade adjacency.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0772" y="2715295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2562" y="274708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814388" y="2711723"/>
            <a:ext cx="11036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cables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671861" y="2783160"/>
            <a:ext cx="27572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 TBPS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4388" y="2954610"/>
            <a:ext cx="3614738" cy="12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Submarine cable density connecting Africa to Europe and the Americas.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772" y="3293046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2562" y="332483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☀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814388" y="3289474"/>
            <a:ext cx="160762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2,800 kWh/m²/yr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2186211" y="3360911"/>
            <a:ext cx="22429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SOLAR IRRADIATION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4388" y="3532361"/>
            <a:ext cx="3614738" cy="12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Among the highest solar resource on the planet — drives sub-$15/MWh LCOE.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0772" y="3870796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2562" y="390258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814388" y="3867224"/>
            <a:ext cx="361473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Loi 82-21 · 84-21 · 13-21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4388" y="4067249"/>
            <a:ext cx="361473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framework covering PPPs, investment charters, and renewable zones.</a:t>
            </a:r>
            <a:endParaRPr lang="en-US" sz="8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4714875" y="814388"/>
            <a:ext cx="3971925" cy="3871913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814388"/>
            <a:ext cx="1943100" cy="1850231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718447" y="817959"/>
            <a:ext cx="1935956" cy="1843088"/>
          </a:xfrm>
          <a:prstGeom prst="roundRect">
            <a:avLst>
              <a:gd name="adj" fmla="val 7235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4864894" y="9536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84" dirty="0"/>
          </a:p>
        </p:txBody>
      </p:sp>
      <p:sp>
        <p:nvSpPr>
          <p:cNvPr id="34" name="Text 30"/>
          <p:cNvSpPr/>
          <p:nvPr/>
        </p:nvSpPr>
        <p:spPr>
          <a:xfrm>
            <a:off x="5022056" y="950119"/>
            <a:ext cx="14859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LATENCY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864894" y="1964531"/>
            <a:ext cx="1643062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6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2138"/>
              </a:lnSpc>
              <a:buNone/>
            </a:pPr>
            <a:r>
              <a:rPr lang="en-US" sz="1238" b="1" spc="-64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2138" dirty="0"/>
          </a:p>
        </p:txBody>
      </p:sp>
      <p:sp>
        <p:nvSpPr>
          <p:cNvPr id="36" name="Text 32"/>
          <p:cNvSpPr/>
          <p:nvPr/>
        </p:nvSpPr>
        <p:spPr>
          <a:xfrm>
            <a:off x="4864894" y="2293144"/>
            <a:ext cx="1643063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 Europe — Casablanca ↔ Frankfurt fiber route.</a:t>
            </a:r>
            <a:endParaRPr lang="en-US" sz="8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814388"/>
            <a:ext cx="1943100" cy="1850231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747272" y="817959"/>
            <a:ext cx="1935956" cy="1843088"/>
          </a:xfrm>
          <a:prstGeom prst="roundRect">
            <a:avLst>
              <a:gd name="adj" fmla="val 7235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6893719" y="9536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40" name="Text 35"/>
          <p:cNvSpPr/>
          <p:nvPr/>
        </p:nvSpPr>
        <p:spPr>
          <a:xfrm>
            <a:off x="7050881" y="950119"/>
            <a:ext cx="14859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SOLAR LCOE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6893719" y="2082403"/>
            <a:ext cx="1643062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6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$14</a:t>
            </a:r>
            <a:pPr algn="l" indent="0" marL="0">
              <a:lnSpc>
                <a:spcPts val="2138"/>
              </a:lnSpc>
              <a:buNone/>
            </a:pPr>
            <a:r>
              <a:rPr lang="en-US" sz="1238" b="1" spc="-64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/MWh</a:t>
            </a:r>
            <a:endParaRPr lang="en-US" sz="2138" dirty="0"/>
          </a:p>
        </p:txBody>
      </p:sp>
      <p:sp>
        <p:nvSpPr>
          <p:cNvPr id="42" name="Text 37"/>
          <p:cNvSpPr/>
          <p:nvPr/>
        </p:nvSpPr>
        <p:spPr>
          <a:xfrm>
            <a:off x="6893719" y="2411016"/>
            <a:ext cx="174164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Lowest energy cost on the continent.</a:t>
            </a:r>
            <a:endParaRPr lang="en-US" sz="8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2750344"/>
            <a:ext cx="1943100" cy="1732359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4718447" y="2753916"/>
            <a:ext cx="1935956" cy="1725216"/>
          </a:xfrm>
          <a:prstGeom prst="roundRect">
            <a:avLst>
              <a:gd name="adj" fmla="val 7729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864894" y="28896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984" dirty="0"/>
          </a:p>
        </p:txBody>
      </p:sp>
      <p:sp>
        <p:nvSpPr>
          <p:cNvPr id="46" name="Text 40"/>
          <p:cNvSpPr/>
          <p:nvPr/>
        </p:nvSpPr>
        <p:spPr>
          <a:xfrm>
            <a:off x="5022056" y="2886075"/>
            <a:ext cx="14859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RENEWABLES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4864894" y="3900488"/>
            <a:ext cx="1643063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6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81.5</a:t>
            </a:r>
            <a:pPr algn="l" indent="0" marL="0">
              <a:lnSpc>
                <a:spcPts val="2138"/>
              </a:lnSpc>
              <a:buNone/>
            </a:pPr>
            <a:r>
              <a:rPr lang="en-US" sz="1238" b="1" spc="-64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2138" dirty="0"/>
          </a:p>
        </p:txBody>
      </p:sp>
      <p:sp>
        <p:nvSpPr>
          <p:cNvPr id="48" name="Text 42"/>
          <p:cNvSpPr/>
          <p:nvPr/>
        </p:nvSpPr>
        <p:spPr>
          <a:xfrm>
            <a:off x="4864894" y="4229100"/>
            <a:ext cx="174164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Renewable fraction of national generation.</a:t>
            </a:r>
            <a:endParaRPr lang="en-US" sz="800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2750344"/>
            <a:ext cx="1943100" cy="1732359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6747272" y="2753916"/>
            <a:ext cx="1935956" cy="1725216"/>
          </a:xfrm>
          <a:prstGeom prst="roundRect">
            <a:avLst>
              <a:gd name="adj" fmla="val 7729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6893719" y="28896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984" dirty="0"/>
          </a:p>
        </p:txBody>
      </p:sp>
      <p:sp>
        <p:nvSpPr>
          <p:cNvPr id="52" name="Text 45"/>
          <p:cNvSpPr/>
          <p:nvPr/>
        </p:nvSpPr>
        <p:spPr>
          <a:xfrm>
            <a:off x="7050881" y="2886075"/>
            <a:ext cx="14859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SUBSIDIES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6893719" y="3900488"/>
            <a:ext cx="1643062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6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$420</a:t>
            </a:r>
            <a:pPr algn="l" indent="0" marL="0">
              <a:lnSpc>
                <a:spcPts val="2138"/>
              </a:lnSpc>
              <a:buNone/>
            </a:pPr>
            <a:r>
              <a:rPr lang="en-US" sz="1238" b="1" spc="-64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2138" dirty="0"/>
          </a:p>
        </p:txBody>
      </p:sp>
      <p:sp>
        <p:nvSpPr>
          <p:cNvPr id="54" name="Text 47"/>
          <p:cNvSpPr/>
          <p:nvPr/>
        </p:nvSpPr>
        <p:spPr>
          <a:xfrm>
            <a:off x="6893719" y="4229100"/>
            <a:ext cx="16430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 subsidies available for greenfield infra.</a:t>
            </a:r>
            <a:endParaRPr lang="en-US" sz="800" dirty="0"/>
          </a:p>
        </p:txBody>
      </p:sp>
      <p:sp>
        <p:nvSpPr>
          <p:cNvPr id="55" name="Text 48"/>
          <p:cNvSpPr/>
          <p:nvPr/>
        </p:nvSpPr>
        <p:spPr>
          <a:xfrm>
            <a:off x="4714875" y="457735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984" dirty="0"/>
          </a:p>
        </p:txBody>
      </p:sp>
      <p:sp>
        <p:nvSpPr>
          <p:cNvPr id="56" name="Text 49"/>
          <p:cNvSpPr/>
          <p:nvPr/>
        </p:nvSpPr>
        <p:spPr>
          <a:xfrm>
            <a:off x="4872038" y="4568428"/>
            <a:ext cx="17472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A1A1A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KINGDOM OF MOROCCO · MA</a:t>
            </a:r>
            <a:endParaRPr lang="en-US" sz="800" dirty="0"/>
          </a:p>
        </p:txBody>
      </p:sp>
      <p:sp>
        <p:nvSpPr>
          <p:cNvPr id="57" name="Text 50"/>
          <p:cNvSpPr/>
          <p:nvPr/>
        </p:nvSpPr>
        <p:spPr>
          <a:xfrm>
            <a:off x="7314977" y="4573786"/>
            <a:ext cx="1701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ADVANTAGES · 1 COUNTRY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8820745" y="4854178"/>
            <a:ext cx="15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6625" y="-714375"/>
            <a:ext cx="2714625" cy="2714625"/>
          </a:xfrm>
          <a:prstGeom prst="roundRect">
            <a:avLst>
              <a:gd name="adj" fmla="val 3508421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78644" y="2637830"/>
            <a:ext cx="133443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41686" y="2637830"/>
            <a:ext cx="1334542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04841" y="2637830"/>
            <a:ext cx="133443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67883" y="2637830"/>
            <a:ext cx="133443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30926" y="2637830"/>
            <a:ext cx="133443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01854" y="3341489"/>
            <a:ext cx="0" cy="257175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2035" y="3341489"/>
            <a:ext cx="0" cy="257175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7200"/>
            <a:ext cx="68288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BUSINESS MODEL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00354" y="462558"/>
            <a:ext cx="18436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HARCH CORP · SERIES 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814388"/>
            <a:ext cx="342900" cy="21431"/>
          </a:xfrm>
          <a:prstGeom prst="roundRect">
            <a:avLst>
              <a:gd name="adj" fmla="val 88890"/>
            </a:avLst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1007269"/>
            <a:ext cx="3248844" cy="3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3"/>
              </a:lnSpc>
              <a:buNone/>
            </a:pPr>
            <a:r>
              <a:rPr lang="en-US" sz="2588" spc="-52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</a:t>
            </a:r>
            <a:pPr algn="l" indent="0" marL="0">
              <a:lnSpc>
                <a:spcPts val="2743"/>
              </a:lnSpc>
              <a:buNone/>
            </a:pPr>
            <a:r>
              <a:rPr lang="en-US" sz="2588" spc="-52" kern="0" dirty="0">
                <a:solidFill>
                  <a:srgbClr val="8B9D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</a:t>
            </a:r>
            <a:pPr algn="l" indent="0" marL="0">
              <a:lnSpc>
                <a:spcPts val="2743"/>
              </a:lnSpc>
              <a:buNone/>
            </a:pPr>
            <a:r>
              <a:rPr lang="en-US" sz="2588" spc="-52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At A Time.</a:t>
            </a:r>
            <a:endParaRPr lang="en-US" sz="2588" dirty="0"/>
          </a:p>
        </p:txBody>
      </p:sp>
      <p:sp>
        <p:nvSpPr>
          <p:cNvPr id="14" name="Text 12"/>
          <p:cNvSpPr/>
          <p:nvPr/>
        </p:nvSpPr>
        <p:spPr>
          <a:xfrm>
            <a:off x="6115050" y="1076920"/>
            <a:ext cx="25717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Sequential deployment avoids dilution and capital overstretch — each phase funds the next.</a:t>
            </a:r>
            <a:endParaRPr lang="en-US" sz="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648420"/>
            <a:ext cx="7886700" cy="71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35794" y="161984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8B9DAF"/>
          </a:solidFill>
          <a:ln w="14288">
            <a:solidFill>
              <a:srgbClr val="8B9DAF"/>
            </a:solidFill>
            <a:prstDash val="solid"/>
          </a:ln>
          <a:effectLst>
            <a:outerShdw sx="100000" sy="100000" kx="0" ky="0" algn="bl" rotWithShape="0" blurRad="133350" dist="50800" dir="16200000">
              <a:srgbClr val="8B9DAF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589609" y="161984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0F0F0F"/>
          </a:solidFill>
          <a:ln w="14288">
            <a:solidFill>
              <a:srgbClr val="5B6E8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543425" y="161984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0F0F0F"/>
          </a:solidFill>
          <a:ln w="14288">
            <a:solidFill>
              <a:srgbClr val="5B6E8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497241" y="161984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0F0F0F"/>
          </a:solidFill>
          <a:ln w="14288">
            <a:solidFill>
              <a:srgbClr val="5B6E8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8451056" y="161984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0F0F0F"/>
          </a:solidFill>
          <a:ln w="14288">
            <a:solidFill>
              <a:srgbClr val="5B6E8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60772" y="1859161"/>
            <a:ext cx="1570174" cy="1278731"/>
          </a:xfrm>
          <a:prstGeom prst="roundRect">
            <a:avLst>
              <a:gd name="adj" fmla="val 10428"/>
            </a:avLst>
          </a:prstGeom>
          <a:solidFill>
            <a:srgbClr val="8B9DAF">
              <a:alpha val="5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78644" y="1998464"/>
            <a:ext cx="870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463576" y="1977033"/>
            <a:ext cx="4494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A1A1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2024–25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78644" y="2184202"/>
            <a:ext cx="1334430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5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$420M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78644" y="2441377"/>
            <a:ext cx="13344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Anchor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78644" y="2698552"/>
            <a:ext cx="133443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SUBSIDIARIES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55784" y="2842927"/>
            <a:ext cx="717121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78644" y="2852142"/>
            <a:ext cx="67140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280428" y="2842927"/>
            <a:ext cx="424339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296144" y="2852142"/>
            <a:ext cx="39290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ENERGY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23815" y="1859161"/>
            <a:ext cx="1570286" cy="1278731"/>
          </a:xfrm>
          <a:prstGeom prst="roundRect">
            <a:avLst>
              <a:gd name="adj" fmla="val 10428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241686" y="1998464"/>
            <a:ext cx="8707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126730" y="1977033"/>
            <a:ext cx="4494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A1A1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2026–27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241686" y="2184202"/>
            <a:ext cx="1334542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5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$380M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2241686" y="2441377"/>
            <a:ext cx="13345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Scale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2241686" y="2698552"/>
            <a:ext cx="1334542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SUBSIDIARIES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225970" y="2842927"/>
            <a:ext cx="424339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241686" y="2852142"/>
            <a:ext cx="39290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MINING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666833" y="2842927"/>
            <a:ext cx="374190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680692" y="2852142"/>
            <a:ext cx="34647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786969" y="1859161"/>
            <a:ext cx="1570174" cy="1278731"/>
          </a:xfrm>
          <a:prstGeom prst="roundRect">
            <a:avLst>
              <a:gd name="adj" fmla="val 10428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904841" y="1998464"/>
            <a:ext cx="10631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03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982319" y="1977033"/>
            <a:ext cx="256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A1A1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2028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904841" y="2184202"/>
            <a:ext cx="1334430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5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$450M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3904841" y="2441377"/>
            <a:ext cx="13344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Industrial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904841" y="2698552"/>
            <a:ext cx="133443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SUBSIDIARIES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3889124" y="2842927"/>
            <a:ext cx="424339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3904841" y="2852142"/>
            <a:ext cx="39290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CEMENT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331845" y="2842927"/>
            <a:ext cx="324041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343846" y="2852142"/>
            <a:ext cx="30003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AGRI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450012" y="1859161"/>
            <a:ext cx="1570174" cy="1278731"/>
          </a:xfrm>
          <a:prstGeom prst="roundRect">
            <a:avLst>
              <a:gd name="adj" fmla="val 10428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567883" y="1998464"/>
            <a:ext cx="10631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04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645362" y="1977033"/>
            <a:ext cx="256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A1A1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2029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5567883" y="2184202"/>
            <a:ext cx="1334430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5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$320M</a:t>
            </a:r>
            <a:endParaRPr lang="en-US" sz="1800" dirty="0"/>
          </a:p>
        </p:txBody>
      </p:sp>
      <p:sp>
        <p:nvSpPr>
          <p:cNvPr id="55" name="Text 52"/>
          <p:cNvSpPr/>
          <p:nvPr/>
        </p:nvSpPr>
        <p:spPr>
          <a:xfrm>
            <a:off x="5567883" y="2441377"/>
            <a:ext cx="13344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Software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567883" y="2698552"/>
            <a:ext cx="133443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SUBSIDIARIES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545023" y="2842927"/>
            <a:ext cx="624364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5567883" y="2852142"/>
            <a:ext cx="57864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7113054" y="1859161"/>
            <a:ext cx="1570174" cy="1278731"/>
          </a:xfrm>
          <a:prstGeom prst="roundRect">
            <a:avLst>
              <a:gd name="adj" fmla="val 10428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7230926" y="1998464"/>
            <a:ext cx="10631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05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8308404" y="1977033"/>
            <a:ext cx="2569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A1A1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2030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230926" y="2184202"/>
            <a:ext cx="1334430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5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$650M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7230926" y="2441377"/>
            <a:ext cx="13344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CAPEX · Exit-Ready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7230926" y="2698552"/>
            <a:ext cx="133443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SUBSIDIARIES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7213352" y="2842927"/>
            <a:ext cx="474488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7230926" y="2852142"/>
            <a:ext cx="43934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7693506" y="2842927"/>
            <a:ext cx="763555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7716366" y="2852142"/>
            <a:ext cx="71783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VERTICALS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57200" y="34057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70" name="Text 67"/>
          <p:cNvSpPr/>
          <p:nvPr/>
        </p:nvSpPr>
        <p:spPr>
          <a:xfrm>
            <a:off x="671513" y="3341489"/>
            <a:ext cx="1446999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AFAF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Self-financing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671513" y="3491508"/>
            <a:ext cx="14622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FROM PHASE 2–3 CASH FLOW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3924598" y="34057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73" name="Text 70"/>
          <p:cNvSpPr/>
          <p:nvPr/>
        </p:nvSpPr>
        <p:spPr>
          <a:xfrm>
            <a:off x="4138910" y="3341489"/>
            <a:ext cx="126620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$2.22B Total CAPEX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4138910" y="3491508"/>
            <a:ext cx="135736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ACROSS 5 PHASES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7032017" y="34057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76" name="Text 73"/>
          <p:cNvSpPr/>
          <p:nvPr/>
        </p:nvSpPr>
        <p:spPr>
          <a:xfrm>
            <a:off x="7174306" y="3341489"/>
            <a:ext cx="151249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Only $7M external equity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6877029" y="3491508"/>
            <a:ext cx="18097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BEYOND SERIES A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8820745" y="4854178"/>
            <a:ext cx="15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00125" y="-857250"/>
            <a:ext cx="3000375" cy="3000375"/>
          </a:xfrm>
          <a:prstGeom prst="roundRect">
            <a:avLst>
              <a:gd name="adj" fmla="val 3174286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4130873"/>
            <a:ext cx="82296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68288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TRACTION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00354" y="462558"/>
            <a:ext cx="18436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HARCH CORP · SERIES 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14388"/>
            <a:ext cx="342900" cy="21431"/>
          </a:xfrm>
          <a:prstGeom prst="roundRect">
            <a:avLst>
              <a:gd name="adj" fmla="val 88890"/>
            </a:avLst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007269"/>
            <a:ext cx="3179225" cy="3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3"/>
              </a:lnSpc>
              <a:buNone/>
            </a:pPr>
            <a:r>
              <a:rPr lang="en-US" sz="2588" spc="-52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Already </a:t>
            </a:r>
            <a:pPr algn="l" indent="0" marL="0">
              <a:lnSpc>
                <a:spcPts val="2743"/>
              </a:lnSpc>
              <a:buNone/>
            </a:pPr>
            <a:r>
              <a:rPr lang="en-US" sz="2588" spc="-52" kern="0" dirty="0">
                <a:solidFill>
                  <a:srgbClr val="8B9D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operational.</a:t>
            </a:r>
            <a:endParaRPr lang="en-US" sz="2588" dirty="0"/>
          </a:p>
        </p:txBody>
      </p:sp>
      <p:sp>
        <p:nvSpPr>
          <p:cNvPr id="8" name="Text 6"/>
          <p:cNvSpPr/>
          <p:nvPr/>
        </p:nvSpPr>
        <p:spPr>
          <a:xfrm>
            <a:off x="6329363" y="1076920"/>
            <a:ext cx="23574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a concept — Harch is running real infrastructure across the continent today.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5552"/>
            <a:ext cx="2686050" cy="11715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0772" y="1559123"/>
            <a:ext cx="2678906" cy="1164431"/>
          </a:xfrm>
          <a:prstGeom prst="roundRect">
            <a:avLst>
              <a:gd name="adj" fmla="val 11452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21506" y="1716286"/>
            <a:ext cx="22145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GPUS RUNNING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850356" y="17055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3" name="Text 10"/>
          <p:cNvSpPr/>
          <p:nvPr/>
        </p:nvSpPr>
        <p:spPr>
          <a:xfrm>
            <a:off x="621506" y="1948458"/>
            <a:ext cx="2357438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88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1,798</a:t>
            </a:r>
            <a:endParaRPr lang="en-US" sz="2925" dirty="0"/>
          </a:p>
        </p:txBody>
      </p:sp>
      <p:sp>
        <p:nvSpPr>
          <p:cNvPr id="14" name="Text 11"/>
          <p:cNvSpPr/>
          <p:nvPr/>
        </p:nvSpPr>
        <p:spPr>
          <a:xfrm>
            <a:off x="621506" y="2328639"/>
            <a:ext cx="2357438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GPU clusters in production — inference and training workloads serving EU customers.</a:t>
            </a:r>
            <a:endParaRPr lang="en-US" sz="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75" y="1555552"/>
            <a:ext cx="2686050" cy="11715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32547" y="1559123"/>
            <a:ext cx="2678906" cy="1164431"/>
          </a:xfrm>
          <a:prstGeom prst="roundRect">
            <a:avLst>
              <a:gd name="adj" fmla="val 11452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393281" y="1716286"/>
            <a:ext cx="22145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RENEWABLE PIPELINE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622131" y="17055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19" name="Text 15"/>
          <p:cNvSpPr/>
          <p:nvPr/>
        </p:nvSpPr>
        <p:spPr>
          <a:xfrm>
            <a:off x="3393281" y="1948458"/>
            <a:ext cx="2357438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88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2925"/>
              </a:lnSpc>
              <a:buNone/>
            </a:pPr>
            <a:r>
              <a:rPr lang="en-US" sz="1238" b="1" spc="-88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GW+</a:t>
            </a:r>
            <a:endParaRPr lang="en-US" sz="2925" dirty="0"/>
          </a:p>
        </p:txBody>
      </p:sp>
      <p:sp>
        <p:nvSpPr>
          <p:cNvPr id="20" name="Text 16"/>
          <p:cNvSpPr/>
          <p:nvPr/>
        </p:nvSpPr>
        <p:spPr>
          <a:xfrm>
            <a:off x="3393281" y="2328639"/>
            <a:ext cx="2357438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Solar + wind capacity under development across Morocco and West Africa.</a:t>
            </a:r>
            <a:endParaRPr lang="en-US" sz="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0" y="1555552"/>
            <a:ext cx="2686050" cy="11715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04322" y="1559123"/>
            <a:ext cx="2678906" cy="1164431"/>
          </a:xfrm>
          <a:prstGeom prst="roundRect">
            <a:avLst>
              <a:gd name="adj" fmla="val 11452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165056" y="1716286"/>
            <a:ext cx="2214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SUBSIDIARIES OPERATIONAL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8393906" y="17055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5" name="Text 20"/>
          <p:cNvSpPr/>
          <p:nvPr/>
        </p:nvSpPr>
        <p:spPr>
          <a:xfrm>
            <a:off x="6165056" y="1948458"/>
            <a:ext cx="2357438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88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2925" dirty="0"/>
          </a:p>
        </p:txBody>
      </p:sp>
      <p:sp>
        <p:nvSpPr>
          <p:cNvPr id="26" name="Text 21"/>
          <p:cNvSpPr/>
          <p:nvPr/>
        </p:nvSpPr>
        <p:spPr>
          <a:xfrm>
            <a:off x="6165056" y="2328639"/>
            <a:ext cx="2357438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Vertically-integrated stack — energy, mining, water, agri, intelligence, and more.</a:t>
            </a:r>
            <a:endParaRPr lang="en-US" sz="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12852"/>
            <a:ext cx="2686050" cy="11715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60772" y="2816423"/>
            <a:ext cx="2678906" cy="1164431"/>
          </a:xfrm>
          <a:prstGeom prst="roundRect">
            <a:avLst>
              <a:gd name="adj" fmla="val 11452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621506" y="2973586"/>
            <a:ext cx="22145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COUNTRIES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2850356" y="29628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31" name="Text 25"/>
          <p:cNvSpPr/>
          <p:nvPr/>
        </p:nvSpPr>
        <p:spPr>
          <a:xfrm>
            <a:off x="621506" y="3205758"/>
            <a:ext cx="2357438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88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2925" dirty="0"/>
          </a:p>
        </p:txBody>
      </p:sp>
      <p:sp>
        <p:nvSpPr>
          <p:cNvPr id="32" name="Text 26"/>
          <p:cNvSpPr/>
          <p:nvPr/>
        </p:nvSpPr>
        <p:spPr>
          <a:xfrm>
            <a:off x="621506" y="3585939"/>
            <a:ext cx="2357438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 footprint across Morocco and partner African nations — regional anchor.</a:t>
            </a:r>
            <a:endParaRPr lang="en-US" sz="8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8975" y="2812852"/>
            <a:ext cx="2686050" cy="117157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232547" y="2816423"/>
            <a:ext cx="2678906" cy="1164431"/>
          </a:xfrm>
          <a:prstGeom prst="roundRect">
            <a:avLst>
              <a:gd name="adj" fmla="val 11452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3393281" y="2973586"/>
            <a:ext cx="22145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OPEN-DATA RESEARCH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5622131" y="29628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7" name="Text 30"/>
          <p:cNvSpPr/>
          <p:nvPr/>
        </p:nvSpPr>
        <p:spPr>
          <a:xfrm>
            <a:off x="3393281" y="3205758"/>
            <a:ext cx="2357438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88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309</a:t>
            </a:r>
            <a:pPr algn="l" indent="0" marL="0">
              <a:lnSpc>
                <a:spcPts val="2925"/>
              </a:lnSpc>
              <a:buNone/>
            </a:pPr>
            <a:r>
              <a:rPr lang="en-US" sz="1238" b="1" spc="-88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</a:t>
            </a:r>
            <a:endParaRPr lang="en-US" sz="2925" dirty="0"/>
          </a:p>
        </p:txBody>
      </p:sp>
      <p:sp>
        <p:nvSpPr>
          <p:cNvPr id="38" name="Text 31"/>
          <p:cNvSpPr/>
          <p:nvPr/>
        </p:nvSpPr>
        <p:spPr>
          <a:xfrm>
            <a:off x="3393281" y="3585939"/>
            <a:ext cx="2357438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Public-domain analysis — CC BY-NC-SA, peer-reviewable methodology, no black boxes.</a:t>
            </a:r>
            <a:endParaRPr lang="en-US" sz="8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0" y="2812852"/>
            <a:ext cx="2686050" cy="1171575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004322" y="2816423"/>
            <a:ext cx="2678906" cy="1164431"/>
          </a:xfrm>
          <a:prstGeom prst="roundRect">
            <a:avLst>
              <a:gd name="adj" fmla="val 11452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6165056" y="2973586"/>
            <a:ext cx="22145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CARBON INTENSITY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8393906" y="29628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43" name="Text 35"/>
          <p:cNvSpPr/>
          <p:nvPr/>
        </p:nvSpPr>
        <p:spPr>
          <a:xfrm>
            <a:off x="6165056" y="3205758"/>
            <a:ext cx="2357438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88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</a:t>
            </a:r>
            <a:pPr algn="l" indent="0" marL="0">
              <a:lnSpc>
                <a:spcPts val="2925"/>
              </a:lnSpc>
              <a:buNone/>
            </a:pPr>
            <a:r>
              <a:rPr lang="en-US" sz="1238" b="1" spc="-88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gCO₂/kWh</a:t>
            </a:r>
            <a:endParaRPr lang="en-US" sz="2925" dirty="0"/>
          </a:p>
        </p:txBody>
      </p:sp>
      <p:sp>
        <p:nvSpPr>
          <p:cNvPr id="44" name="Text 36"/>
          <p:cNvSpPr/>
          <p:nvPr/>
        </p:nvSpPr>
        <p:spPr>
          <a:xfrm>
            <a:off x="6165056" y="3585939"/>
            <a:ext cx="2357438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Among the lowest in the world — 89% below the global datacenter average.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459589" y="4286853"/>
            <a:ext cx="52373" cy="52373"/>
          </a:xfrm>
          <a:prstGeom prst="roundRect">
            <a:avLst>
              <a:gd name="adj" fmla="val 181850333"/>
            </a:avLst>
          </a:prstGeom>
          <a:solidFill>
            <a:srgbClr val="8B9DAF">
              <a:alpha val="72000"/>
            </a:srgbClr>
          </a:solidFill>
          <a:ln/>
          <a:effectLst>
            <a:outerShdw sx="100000" sy="100000" kx="0" ky="0" algn="bl" rotWithShape="0" blurRad="114300" dist="50800" dir="16200000">
              <a:srgbClr val="8B9DAF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600075" y="4248745"/>
            <a:ext cx="220198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9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BUILDING IN PUBLIC SINCE 2024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6418659" y="4254103"/>
            <a:ext cx="2377869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LIVE INFRASTRUCTURE · AUDITED METRICS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8820745" y="4854178"/>
            <a:ext cx="15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3000375"/>
            <a:ext cx="3429000" cy="3429000"/>
          </a:xfrm>
          <a:prstGeom prst="roundRect">
            <a:avLst>
              <a:gd name="adj" fmla="val 2777500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4386263"/>
            <a:ext cx="82296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68288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COMPETITIVE ADVANTAGE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00354" y="462558"/>
            <a:ext cx="18436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HARCH CORP · SERIES 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14388"/>
            <a:ext cx="342900" cy="21431"/>
          </a:xfrm>
          <a:prstGeom prst="roundRect">
            <a:avLst>
              <a:gd name="adj" fmla="val 88890"/>
            </a:avLst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007269"/>
            <a:ext cx="2034381" cy="3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3"/>
              </a:lnSpc>
              <a:buNone/>
            </a:pPr>
            <a:r>
              <a:rPr lang="en-US" sz="2588" spc="-52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</a:t>
            </a:r>
            <a:pPr algn="l" indent="0" marL="0">
              <a:lnSpc>
                <a:spcPts val="2743"/>
              </a:lnSpc>
              <a:buNone/>
            </a:pPr>
            <a:r>
              <a:rPr lang="en-US" sz="2588" spc="-52" kern="0" dirty="0">
                <a:solidFill>
                  <a:srgbClr val="8B9D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moats.</a:t>
            </a:r>
            <a:endParaRPr lang="en-US" sz="2588" dirty="0"/>
          </a:p>
        </p:txBody>
      </p:sp>
      <p:sp>
        <p:nvSpPr>
          <p:cNvPr id="8" name="Text 6"/>
          <p:cNvSpPr/>
          <p:nvPr/>
        </p:nvSpPr>
        <p:spPr>
          <a:xfrm>
            <a:off x="6257925" y="1076920"/>
            <a:ext cx="24288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moat reinforces the others — a compound advantage, not five isolated ones.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5552"/>
            <a:ext cx="2686050" cy="26842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0772" y="1559123"/>
            <a:ext cx="2678906" cy="2677120"/>
          </a:xfrm>
          <a:prstGeom prst="roundRect">
            <a:avLst>
              <a:gd name="adj" fmla="val 4981"/>
            </a:avLst>
          </a:prstGeom>
          <a:noFill/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21506" y="1705570"/>
            <a:ext cx="2185988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spc="-71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363" dirty="0"/>
          </a:p>
        </p:txBody>
      </p:sp>
      <p:sp>
        <p:nvSpPr>
          <p:cNvPr id="12" name="Text 9"/>
          <p:cNvSpPr/>
          <p:nvPr/>
        </p:nvSpPr>
        <p:spPr>
          <a:xfrm>
            <a:off x="2821781" y="17055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13" name="Text 10"/>
          <p:cNvSpPr/>
          <p:nvPr/>
        </p:nvSpPr>
        <p:spPr>
          <a:xfrm>
            <a:off x="598646" y="2639218"/>
            <a:ext cx="827961" cy="172022"/>
          </a:xfrm>
          <a:prstGeom prst="roundRect">
            <a:avLst>
              <a:gd name="adj" fmla="val 33222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1506" y="2648434"/>
            <a:ext cx="78224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8B9D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· ENERGY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21506" y="2887749"/>
            <a:ext cx="2467166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spc="-10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Lowest energy cost on Earth.</a:t>
            </a:r>
            <a:endParaRPr lang="en-US" sz="1013" dirty="0"/>
          </a:p>
        </p:txBody>
      </p:sp>
      <p:sp>
        <p:nvSpPr>
          <p:cNvPr id="16" name="Text 13"/>
          <p:cNvSpPr/>
          <p:nvPr/>
        </p:nvSpPr>
        <p:spPr>
          <a:xfrm>
            <a:off x="621506" y="3156310"/>
            <a:ext cx="821174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spc="-71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$14</a:t>
            </a:r>
            <a:endParaRPr lang="en-US" sz="2363" dirty="0"/>
          </a:p>
        </p:txBody>
      </p:sp>
      <p:sp>
        <p:nvSpPr>
          <p:cNvPr id="17" name="Text 14"/>
          <p:cNvSpPr/>
          <p:nvPr/>
        </p:nvSpPr>
        <p:spPr>
          <a:xfrm>
            <a:off x="1191890" y="3292041"/>
            <a:ext cx="17870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/MWh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21506" y="3484922"/>
            <a:ext cx="23574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vs $35–50 in EU grids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3717094"/>
            <a:ext cx="2357438" cy="3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Solar LCOE at $14/MWh undercuts the European grid by 3–4×. Powers every subsidiary at a structural discount competitors cannot match.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75" y="1555552"/>
            <a:ext cx="2686050" cy="129927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32547" y="1559123"/>
            <a:ext cx="2678906" cy="1292126"/>
          </a:xfrm>
          <a:prstGeom prst="roundRect">
            <a:avLst>
              <a:gd name="adj" fmla="val 10320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393281" y="1705570"/>
            <a:ext cx="2214563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spc="-71" kern="0" dirty="0">
                <a:solidFill>
                  <a:srgbClr val="3F3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363" dirty="0"/>
          </a:p>
        </p:txBody>
      </p:sp>
      <p:sp>
        <p:nvSpPr>
          <p:cNvPr id="23" name="Text 19"/>
          <p:cNvSpPr/>
          <p:nvPr/>
        </p:nvSpPr>
        <p:spPr>
          <a:xfrm>
            <a:off x="5622131" y="17055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4" name="Text 20"/>
          <p:cNvSpPr/>
          <p:nvPr/>
        </p:nvSpPr>
        <p:spPr>
          <a:xfrm>
            <a:off x="3370421" y="2024967"/>
            <a:ext cx="1180014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393281" y="2034183"/>
            <a:ext cx="11342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 INTEGRATION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393281" y="2244923"/>
            <a:ext cx="2467166" cy="1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spc="-10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vertical integration.</a:t>
            </a:r>
            <a:endParaRPr lang="en-US" sz="1013" dirty="0"/>
          </a:p>
        </p:txBody>
      </p:sp>
      <p:sp>
        <p:nvSpPr>
          <p:cNvPr id="27" name="Text 23"/>
          <p:cNvSpPr/>
          <p:nvPr/>
        </p:nvSpPr>
        <p:spPr>
          <a:xfrm>
            <a:off x="3393281" y="2456334"/>
            <a:ext cx="2357438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subsidiaries under one operating system — each unit feeds the next, eliminating margin leakage to third parties.</a:t>
            </a:r>
            <a:endParaRPr lang="en-US" sz="8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0" y="1555552"/>
            <a:ext cx="2686050" cy="129927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004322" y="1559123"/>
            <a:ext cx="2678906" cy="1292126"/>
          </a:xfrm>
          <a:prstGeom prst="roundRect">
            <a:avLst>
              <a:gd name="adj" fmla="val 10320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6165056" y="1705570"/>
            <a:ext cx="2214563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spc="-71" kern="0" dirty="0">
                <a:solidFill>
                  <a:srgbClr val="3F3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363" dirty="0"/>
          </a:p>
        </p:txBody>
      </p:sp>
      <p:sp>
        <p:nvSpPr>
          <p:cNvPr id="31" name="Text 26"/>
          <p:cNvSpPr/>
          <p:nvPr/>
        </p:nvSpPr>
        <p:spPr>
          <a:xfrm>
            <a:off x="8393906" y="17055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32" name="Text 27"/>
          <p:cNvSpPr/>
          <p:nvPr/>
        </p:nvSpPr>
        <p:spPr>
          <a:xfrm>
            <a:off x="6142196" y="2024967"/>
            <a:ext cx="1129672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6165056" y="2034183"/>
            <a:ext cx="108395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GEOGRAPHY · LATENCY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6165056" y="2244923"/>
            <a:ext cx="235743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spc="-10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Strategic geography.</a:t>
            </a:r>
            <a:endParaRPr lang="en-US" sz="1013" dirty="0"/>
          </a:p>
        </p:txBody>
      </p:sp>
      <p:sp>
        <p:nvSpPr>
          <p:cNvPr id="35" name="Text 30"/>
          <p:cNvSpPr/>
          <p:nvPr/>
        </p:nvSpPr>
        <p:spPr>
          <a:xfrm>
            <a:off x="6165056" y="2456334"/>
            <a:ext cx="2357438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ms to Europe — Casablanca sits on 14 submarine cables. African compute serving EU demand at premium SLAs.</a:t>
            </a:r>
            <a:endParaRPr lang="en-US" sz="8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975" y="2940546"/>
            <a:ext cx="2686050" cy="129927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232547" y="2944118"/>
            <a:ext cx="2678906" cy="1292126"/>
          </a:xfrm>
          <a:prstGeom prst="roundRect">
            <a:avLst>
              <a:gd name="adj" fmla="val 10320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3393281" y="3090565"/>
            <a:ext cx="2214563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spc="-71" kern="0" dirty="0">
                <a:solidFill>
                  <a:srgbClr val="3F3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363" dirty="0"/>
          </a:p>
        </p:txBody>
      </p:sp>
      <p:sp>
        <p:nvSpPr>
          <p:cNvPr id="39" name="Text 33"/>
          <p:cNvSpPr/>
          <p:nvPr/>
        </p:nvSpPr>
        <p:spPr>
          <a:xfrm>
            <a:off x="5622131" y="30905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0" name="Text 34"/>
          <p:cNvSpPr/>
          <p:nvPr/>
        </p:nvSpPr>
        <p:spPr>
          <a:xfrm>
            <a:off x="3370421" y="3409962"/>
            <a:ext cx="1029102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3393281" y="3419177"/>
            <a:ext cx="98338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PROPRIETARY STACK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3393281" y="3629918"/>
            <a:ext cx="235743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spc="-10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Proprietary tech stack.</a:t>
            </a:r>
            <a:endParaRPr lang="en-US" sz="1013" dirty="0"/>
          </a:p>
        </p:txBody>
      </p:sp>
      <p:sp>
        <p:nvSpPr>
          <p:cNvPr id="43" name="Text 37"/>
          <p:cNvSpPr/>
          <p:nvPr/>
        </p:nvSpPr>
        <p:spPr>
          <a:xfrm>
            <a:off x="3393281" y="3841328"/>
            <a:ext cx="2357438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HarchOS unifies orchestration across energy, compute, water, and logistics — one control plane for eight businesses.</a:t>
            </a:r>
            <a:endParaRPr lang="en-US" sz="8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0" y="2940546"/>
            <a:ext cx="2686050" cy="129927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6004322" y="2944118"/>
            <a:ext cx="2678906" cy="1292126"/>
          </a:xfrm>
          <a:prstGeom prst="roundRect">
            <a:avLst>
              <a:gd name="adj" fmla="val 10320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6165056" y="3090565"/>
            <a:ext cx="2214563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spc="-71" kern="0" dirty="0">
                <a:solidFill>
                  <a:srgbClr val="3F3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2363" dirty="0"/>
          </a:p>
        </p:txBody>
      </p:sp>
      <p:sp>
        <p:nvSpPr>
          <p:cNvPr id="47" name="Text 40"/>
          <p:cNvSpPr/>
          <p:nvPr/>
        </p:nvSpPr>
        <p:spPr>
          <a:xfrm>
            <a:off x="8393906" y="30905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48" name="Text 41"/>
          <p:cNvSpPr/>
          <p:nvPr/>
        </p:nvSpPr>
        <p:spPr>
          <a:xfrm>
            <a:off x="6142196" y="3409962"/>
            <a:ext cx="827961" cy="172022"/>
          </a:xfrm>
          <a:prstGeom prst="roundRect">
            <a:avLst>
              <a:gd name="adj" fmla="val 3322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6165056" y="3419177"/>
            <a:ext cx="78224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9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· TRUST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6165056" y="3629918"/>
            <a:ext cx="235743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spc="-10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in Public brand.</a:t>
            </a:r>
            <a:endParaRPr lang="en-US" sz="1013" dirty="0"/>
          </a:p>
        </p:txBody>
      </p:sp>
      <p:sp>
        <p:nvSpPr>
          <p:cNvPr id="51" name="Text 44"/>
          <p:cNvSpPr/>
          <p:nvPr/>
        </p:nvSpPr>
        <p:spPr>
          <a:xfrm>
            <a:off x="6165056" y="3841328"/>
            <a:ext cx="2357438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309 pages of open-data research — transparency is itself a moat. Auditable by investors, regulators, customers.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457200" y="4504134"/>
            <a:ext cx="12358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013" dirty="0"/>
          </a:p>
        </p:txBody>
      </p:sp>
      <p:sp>
        <p:nvSpPr>
          <p:cNvPr id="53" name="Text 46"/>
          <p:cNvSpPr/>
          <p:nvPr/>
        </p:nvSpPr>
        <p:spPr>
          <a:xfrm>
            <a:off x="591592" y="4554141"/>
            <a:ext cx="14180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REINFORCING MOATS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1831925" y="4529138"/>
            <a:ext cx="7144" cy="1428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2010519" y="4504134"/>
            <a:ext cx="49399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8B9DA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3–4×</a:t>
            </a:r>
            <a:endParaRPr lang="en-US" sz="1013" dirty="0"/>
          </a:p>
        </p:txBody>
      </p:sp>
      <p:sp>
        <p:nvSpPr>
          <p:cNvPr id="56" name="Text 49"/>
          <p:cNvSpPr/>
          <p:nvPr/>
        </p:nvSpPr>
        <p:spPr>
          <a:xfrm>
            <a:off x="2376413" y="4554141"/>
            <a:ext cx="11678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COST ADVANTAGE</a:t>
            </a:r>
            <a:endParaRPr lang="en-US" sz="800" dirty="0"/>
          </a:p>
        </p:txBody>
      </p:sp>
      <p:sp>
        <p:nvSpPr>
          <p:cNvPr id="57" name="Text 50"/>
          <p:cNvSpPr/>
          <p:nvPr/>
        </p:nvSpPr>
        <p:spPr>
          <a:xfrm>
            <a:off x="6357268" y="4541639"/>
            <a:ext cx="243926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COMPOUND ADVANTAGE · HARD TO REPLICATE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8820745" y="4854178"/>
            <a:ext cx="15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6625" y="-714375"/>
            <a:ext cx="2714625" cy="2714625"/>
          </a:xfrm>
          <a:prstGeom prst="roundRect">
            <a:avLst>
              <a:gd name="adj" fmla="val 3508421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35794" y="3473648"/>
            <a:ext cx="23097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7057" y="3473648"/>
            <a:ext cx="23097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8319" y="3473648"/>
            <a:ext cx="2309887" cy="0"/>
          </a:xfrm>
          <a:prstGeom prst="line">
            <a:avLst/>
          </a:prstGeom>
          <a:noFill/>
          <a:ln w="7144">
            <a:solidFill>
              <a:srgbClr val="8B9D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059436"/>
            <a:ext cx="82296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7200"/>
            <a:ext cx="68288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FINANCIAL PROJECTIONS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00354" y="462558"/>
            <a:ext cx="18436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HARCH CORP · SERIES 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14388"/>
            <a:ext cx="342900" cy="21431"/>
          </a:xfrm>
          <a:prstGeom prst="roundRect">
            <a:avLst>
              <a:gd name="adj" fmla="val 88890"/>
            </a:avLst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1007269"/>
            <a:ext cx="3683546" cy="3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3"/>
              </a:lnSpc>
              <a:buNone/>
            </a:pPr>
            <a:r>
              <a:rPr lang="en-US" sz="2588" spc="-52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Path to </a:t>
            </a:r>
            <a:pPr algn="l" indent="0" marL="0">
              <a:lnSpc>
                <a:spcPts val="2743"/>
              </a:lnSpc>
              <a:buNone/>
            </a:pPr>
            <a:r>
              <a:rPr lang="en-US" sz="2588" spc="-52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$680M revenue.</a:t>
            </a:r>
            <a:endParaRPr lang="en-US" sz="2588" dirty="0"/>
          </a:p>
        </p:txBody>
      </p:sp>
      <p:sp>
        <p:nvSpPr>
          <p:cNvPr id="11" name="Text 9"/>
          <p:cNvSpPr/>
          <p:nvPr/>
        </p:nvSpPr>
        <p:spPr>
          <a:xfrm>
            <a:off x="6257925" y="1076920"/>
            <a:ext cx="24288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Three-year trajectory — EBITDA positive by 2029, 32% margin by 2030.</a:t>
            </a:r>
            <a:endParaRPr lang="en-US" sz="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5552"/>
            <a:ext cx="2666963" cy="235743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0772" y="1559123"/>
            <a:ext cx="2659819" cy="2350294"/>
          </a:xfrm>
          <a:prstGeom prst="roundRect">
            <a:avLst>
              <a:gd name="adj" fmla="val 6484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35794" y="1719858"/>
            <a:ext cx="644889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YEAR 01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35794" y="1855589"/>
            <a:ext cx="593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A1A1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FY 2028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816982" y="17198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635794" y="2148483"/>
            <a:ext cx="2309775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35794" y="2302073"/>
            <a:ext cx="2309775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88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$185</a:t>
            </a:r>
            <a:pPr algn="l" indent="0" marL="0">
              <a:lnSpc>
                <a:spcPts val="2925"/>
              </a:lnSpc>
              <a:buNone/>
            </a:pPr>
            <a:r>
              <a:rPr lang="en-US" sz="1350" b="1" spc="-88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2925" dirty="0"/>
          </a:p>
        </p:txBody>
      </p:sp>
      <p:sp>
        <p:nvSpPr>
          <p:cNvPr id="19" name="Text 16"/>
          <p:cNvSpPr/>
          <p:nvPr/>
        </p:nvSpPr>
        <p:spPr>
          <a:xfrm>
            <a:off x="635794" y="2759273"/>
            <a:ext cx="2309775" cy="42863"/>
          </a:xfrm>
          <a:prstGeom prst="roundRect">
            <a:avLst>
              <a:gd name="adj" fmla="val 66666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4" y="2759273"/>
            <a:ext cx="623627" cy="4286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35794" y="2916436"/>
            <a:ext cx="2309775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EBITDA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35794" y="3070027"/>
            <a:ext cx="230977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+$45</a:t>
            </a:r>
            <a:pPr algn="l" indent="0" marL="0">
              <a:lnSpc>
                <a:spcPts val="1688"/>
              </a:lnSpc>
              <a:buNone/>
            </a:pPr>
            <a:r>
              <a:rPr lang="en-US" sz="1013" b="1" spc="-34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88" dirty="0"/>
          </a:p>
        </p:txBody>
      </p:sp>
      <p:sp>
        <p:nvSpPr>
          <p:cNvPr id="23" name="Text 19"/>
          <p:cNvSpPr/>
          <p:nvPr/>
        </p:nvSpPr>
        <p:spPr>
          <a:xfrm>
            <a:off x="635794" y="3341489"/>
            <a:ext cx="24195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24% margin · Intelligence-led ramp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12934" y="3559373"/>
            <a:ext cx="733083" cy="200025"/>
          </a:xfrm>
          <a:prstGeom prst="roundRect">
            <a:avLst>
              <a:gd name="adj" fmla="val 285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635794" y="3570089"/>
            <a:ext cx="68736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BREAK-EVEN</a:t>
            </a:r>
            <a:endParaRPr lang="en-US" sz="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463" y="1555552"/>
            <a:ext cx="2666963" cy="235743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242035" y="1559123"/>
            <a:ext cx="2659819" cy="2350294"/>
          </a:xfrm>
          <a:prstGeom prst="roundRect">
            <a:avLst>
              <a:gd name="adj" fmla="val 6484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417057" y="1719858"/>
            <a:ext cx="644889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YEAR 02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417057" y="1855589"/>
            <a:ext cx="593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A1A1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FY 2029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5598244" y="17198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31" name="Text 26"/>
          <p:cNvSpPr/>
          <p:nvPr/>
        </p:nvSpPr>
        <p:spPr>
          <a:xfrm>
            <a:off x="3417057" y="2148483"/>
            <a:ext cx="2309775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3417057" y="2302073"/>
            <a:ext cx="2309775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88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$340</a:t>
            </a:r>
            <a:pPr algn="l" indent="0" marL="0">
              <a:lnSpc>
                <a:spcPts val="2925"/>
              </a:lnSpc>
              <a:buNone/>
            </a:pPr>
            <a:r>
              <a:rPr lang="en-US" sz="1350" b="1" spc="-88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2925" dirty="0"/>
          </a:p>
        </p:txBody>
      </p:sp>
      <p:sp>
        <p:nvSpPr>
          <p:cNvPr id="33" name="Text 28"/>
          <p:cNvSpPr/>
          <p:nvPr/>
        </p:nvSpPr>
        <p:spPr>
          <a:xfrm>
            <a:off x="3417057" y="2759273"/>
            <a:ext cx="2309775" cy="42863"/>
          </a:xfrm>
          <a:prstGeom prst="roundRect">
            <a:avLst>
              <a:gd name="adj" fmla="val 66666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7057" y="2759273"/>
            <a:ext cx="1154832" cy="42863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3417057" y="2916436"/>
            <a:ext cx="2309775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EBITDA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3417057" y="3070027"/>
            <a:ext cx="230977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+$120</a:t>
            </a:r>
            <a:pPr algn="l" indent="0" marL="0">
              <a:lnSpc>
                <a:spcPts val="1688"/>
              </a:lnSpc>
              <a:buNone/>
            </a:pPr>
            <a:r>
              <a:rPr lang="en-US" sz="1013" b="1" spc="-34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88" dirty="0"/>
          </a:p>
        </p:txBody>
      </p:sp>
      <p:sp>
        <p:nvSpPr>
          <p:cNvPr id="37" name="Text 31"/>
          <p:cNvSpPr/>
          <p:nvPr/>
        </p:nvSpPr>
        <p:spPr>
          <a:xfrm>
            <a:off x="3417057" y="3341489"/>
            <a:ext cx="24195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35% margin · Energy + Mining cash flow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3394197" y="3559373"/>
            <a:ext cx="1012359" cy="200025"/>
          </a:xfrm>
          <a:prstGeom prst="roundRect">
            <a:avLst>
              <a:gd name="adj" fmla="val 285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3417057" y="3570089"/>
            <a:ext cx="96663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EBITDA POSITIVE</a:t>
            </a:r>
            <a:endParaRPr lang="en-US" sz="8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726" y="1555552"/>
            <a:ext cx="2667074" cy="235743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023297" y="1559123"/>
            <a:ext cx="2659931" cy="2350294"/>
          </a:xfrm>
          <a:prstGeom prst="roundRect">
            <a:avLst>
              <a:gd name="adj" fmla="val 6484"/>
            </a:avLst>
          </a:prstGeom>
          <a:noFill/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6198319" y="1719858"/>
            <a:ext cx="1246591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2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YEAR 03 · TARGET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6198319" y="1855589"/>
            <a:ext cx="12397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FY 2030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8379619" y="17198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266" dirty="0"/>
          </a:p>
        </p:txBody>
      </p:sp>
      <p:sp>
        <p:nvSpPr>
          <p:cNvPr id="45" name="Text 38"/>
          <p:cNvSpPr/>
          <p:nvPr/>
        </p:nvSpPr>
        <p:spPr>
          <a:xfrm>
            <a:off x="6198319" y="2148483"/>
            <a:ext cx="230988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6198319" y="2302073"/>
            <a:ext cx="2309887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88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$680</a:t>
            </a:r>
            <a:pPr algn="l" indent="0" marL="0">
              <a:lnSpc>
                <a:spcPts val="2925"/>
              </a:lnSpc>
              <a:buNone/>
            </a:pPr>
            <a:r>
              <a:rPr lang="en-US" sz="1350" b="1" spc="-88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2925" dirty="0"/>
          </a:p>
        </p:txBody>
      </p:sp>
      <p:sp>
        <p:nvSpPr>
          <p:cNvPr id="47" name="Text 40"/>
          <p:cNvSpPr/>
          <p:nvPr/>
        </p:nvSpPr>
        <p:spPr>
          <a:xfrm>
            <a:off x="6198319" y="2759273"/>
            <a:ext cx="2309887" cy="42863"/>
          </a:xfrm>
          <a:prstGeom prst="roundRect">
            <a:avLst>
              <a:gd name="adj" fmla="val 66666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8319" y="2759273"/>
            <a:ext cx="2309887" cy="42863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198319" y="2916436"/>
            <a:ext cx="230988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EBITDA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6198319" y="3070027"/>
            <a:ext cx="230988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+$215</a:t>
            </a:r>
            <a:pPr algn="l" indent="0" marL="0">
              <a:lnSpc>
                <a:spcPts val="1688"/>
              </a:lnSpc>
              <a:buNone/>
            </a:pPr>
            <a:r>
              <a:rPr lang="en-US" sz="1013" b="1" spc="-34" kern="0" dirty="0">
                <a:solidFill>
                  <a:srgbClr val="5B6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88" dirty="0"/>
          </a:p>
        </p:txBody>
      </p:sp>
      <p:sp>
        <p:nvSpPr>
          <p:cNvPr id="51" name="Text 43"/>
          <p:cNvSpPr/>
          <p:nvPr/>
        </p:nvSpPr>
        <p:spPr>
          <a:xfrm>
            <a:off x="6198319" y="3341489"/>
            <a:ext cx="24196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32% margin · Full vertical integration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6175459" y="3559373"/>
            <a:ext cx="1068281" cy="200025"/>
          </a:xfrm>
          <a:prstGeom prst="roundRect">
            <a:avLst>
              <a:gd name="adj" fmla="val 28571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6198319" y="3570089"/>
            <a:ext cx="102256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B9D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EXIT-READY SCALE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457200" y="4177308"/>
            <a:ext cx="90448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IRR 20–30%</a:t>
            </a:r>
            <a:endParaRPr lang="en-US" sz="1013" dirty="0"/>
          </a:p>
        </p:txBody>
      </p:sp>
      <p:sp>
        <p:nvSpPr>
          <p:cNvPr id="55" name="Text 47"/>
          <p:cNvSpPr/>
          <p:nvPr/>
        </p:nvSpPr>
        <p:spPr>
          <a:xfrm>
            <a:off x="1400398" y="4202311"/>
            <a:ext cx="7144" cy="1428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1578992" y="4177308"/>
            <a:ext cx="88896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WACC 5.8%</a:t>
            </a:r>
            <a:endParaRPr lang="en-US" sz="1013" dirty="0"/>
          </a:p>
        </p:txBody>
      </p:sp>
      <p:sp>
        <p:nvSpPr>
          <p:cNvPr id="57" name="Text 49"/>
          <p:cNvSpPr/>
          <p:nvPr/>
        </p:nvSpPr>
        <p:spPr>
          <a:xfrm>
            <a:off x="2444948" y="4202311"/>
            <a:ext cx="7144" cy="1428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2623542" y="4177308"/>
            <a:ext cx="153752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Spread +14–24 pts</a:t>
            </a:r>
            <a:endParaRPr lang="en-US" sz="1013" dirty="0"/>
          </a:p>
        </p:txBody>
      </p:sp>
      <p:sp>
        <p:nvSpPr>
          <p:cNvPr id="59" name="Text 51"/>
          <p:cNvSpPr/>
          <p:nvPr/>
        </p:nvSpPr>
        <p:spPr>
          <a:xfrm>
            <a:off x="6909011" y="4214813"/>
            <a:ext cx="188445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SELF-FINANCING FROM PHASE 2–3</a:t>
            </a:r>
            <a:endParaRPr lang="en-US" sz="800" dirty="0"/>
          </a:p>
        </p:txBody>
      </p:sp>
      <p:sp>
        <p:nvSpPr>
          <p:cNvPr id="60" name="Text 52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61" name="Text 53"/>
          <p:cNvSpPr/>
          <p:nvPr/>
        </p:nvSpPr>
        <p:spPr>
          <a:xfrm>
            <a:off x="8820745" y="4854178"/>
            <a:ext cx="15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00125" y="3286125"/>
            <a:ext cx="3000375" cy="3000375"/>
          </a:xfrm>
          <a:prstGeom prst="roundRect">
            <a:avLst>
              <a:gd name="adj" fmla="val 3174286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svg-1783382731687-hr4l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" y="1655118"/>
            <a:ext cx="1643063" cy="16430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28888" y="2085529"/>
            <a:ext cx="1928813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528888" y="2346275"/>
            <a:ext cx="1928813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28888" y="2607022"/>
            <a:ext cx="1928813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28888" y="2867769"/>
            <a:ext cx="1928813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57200"/>
            <a:ext cx="68288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· USE OF FUNDS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300354" y="462558"/>
            <a:ext cx="18436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HARCH CORP · SERIES 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78581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" y="978694"/>
            <a:ext cx="4000500" cy="33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250" spc="-45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$200M </a:t>
            </a:r>
            <a:pPr algn="l" indent="0" marL="0">
              <a:lnSpc>
                <a:spcPts val="2430"/>
              </a:lnSpc>
              <a:buNone/>
            </a:pPr>
            <a:r>
              <a:rPr lang="en-US" sz="2250" spc="-45" kern="0" dirty="0">
                <a:solidFill>
                  <a:srgbClr val="8B9D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Series A allocation.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457200" y="1372939"/>
            <a:ext cx="4000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dollar mapped to a subsidiary — capital flows into hard infrastructure, not overhead.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72770" y="2285554"/>
            <a:ext cx="1097673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913" b="1" spc="-57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$200M</a:t>
            </a:r>
            <a:endParaRPr lang="en-US" sz="1913" dirty="0"/>
          </a:p>
        </p:txBody>
      </p:sp>
      <p:sp>
        <p:nvSpPr>
          <p:cNvPr id="14" name="Text 11"/>
          <p:cNvSpPr/>
          <p:nvPr/>
        </p:nvSpPr>
        <p:spPr>
          <a:xfrm>
            <a:off x="1040357" y="2571304"/>
            <a:ext cx="7623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RAISE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528888" y="1919436"/>
            <a:ext cx="71438" cy="71438"/>
          </a:xfrm>
          <a:prstGeom prst="roundRect">
            <a:avLst>
              <a:gd name="adj" fmla="val 40000"/>
            </a:avLst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671763" y="1903698"/>
            <a:ext cx="1377403" cy="12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Intelligence scale-up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918458" y="1885504"/>
            <a:ext cx="2684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983641" y="1896219"/>
            <a:ext cx="4740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$80M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528888" y="2180183"/>
            <a:ext cx="71438" cy="71438"/>
          </a:xfrm>
          <a:prstGeom prst="roundRect">
            <a:avLst>
              <a:gd name="adj" fmla="val 40000"/>
            </a:avLst>
          </a:prstGeom>
          <a:solidFill>
            <a:srgbClr val="5B6E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671763" y="2164445"/>
            <a:ext cx="1377403" cy="12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Energy pipeline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918458" y="2146250"/>
            <a:ext cx="2684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83641" y="2156966"/>
            <a:ext cx="4740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528888" y="2440930"/>
            <a:ext cx="71438" cy="71438"/>
          </a:xfrm>
          <a:prstGeom prst="roundRect">
            <a:avLst>
              <a:gd name="adj" fmla="val 40000"/>
            </a:avLst>
          </a:prstGeom>
          <a:solidFill>
            <a:srgbClr val="A1A1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671763" y="2425192"/>
            <a:ext cx="1504331" cy="12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Mining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918458" y="2406997"/>
            <a:ext cx="2684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983641" y="2417713"/>
            <a:ext cx="4740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$30M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528888" y="2701677"/>
            <a:ext cx="71438" cy="71438"/>
          </a:xfrm>
          <a:prstGeom prst="roundRect">
            <a:avLst>
              <a:gd name="adj" fmla="val 40000"/>
            </a:avLst>
          </a:prstGeom>
          <a:solidFill>
            <a:srgbClr val="7171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671763" y="2685938"/>
            <a:ext cx="1785938" cy="12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Water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918458" y="2667744"/>
            <a:ext cx="2684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983641" y="2678460"/>
            <a:ext cx="4740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$20M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528888" y="2962424"/>
            <a:ext cx="71438" cy="71438"/>
          </a:xfrm>
          <a:prstGeom prst="roundRect">
            <a:avLst>
              <a:gd name="adj" fmla="val 40000"/>
            </a:avLst>
          </a:prstGeom>
          <a:solidFill>
            <a:srgbClr val="3F3F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671763" y="2946685"/>
            <a:ext cx="1377403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Working capital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918458" y="2928491"/>
            <a:ext cx="2684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983641" y="2939207"/>
            <a:ext cx="4740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$20M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686300" y="785813"/>
            <a:ext cx="26143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8B9DA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TERMS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314977" y="791170"/>
            <a:ext cx="1701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LEAD INVESTOR · SERIES A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689872" y="992981"/>
            <a:ext cx="3993356" cy="492919"/>
          </a:xfrm>
          <a:prstGeom prst="roundRect">
            <a:avLst>
              <a:gd name="adj" fmla="val 27053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825603" y="1114425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857393" y="114621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40" name="Text 37"/>
          <p:cNvSpPr/>
          <p:nvPr/>
        </p:nvSpPr>
        <p:spPr>
          <a:xfrm>
            <a:off x="5179219" y="1117997"/>
            <a:ext cx="33718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VALUATION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179219" y="1235869"/>
            <a:ext cx="33718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8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$800M post-money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689872" y="1578769"/>
            <a:ext cx="3993356" cy="492919"/>
          </a:xfrm>
          <a:prstGeom prst="roundRect">
            <a:avLst>
              <a:gd name="adj" fmla="val 27053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825603" y="170021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4857393" y="173200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45" name="Text 42"/>
          <p:cNvSpPr/>
          <p:nvPr/>
        </p:nvSpPr>
        <p:spPr>
          <a:xfrm>
            <a:off x="5179219" y="1703784"/>
            <a:ext cx="33718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179219" y="1821656"/>
            <a:ext cx="33718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8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Q1 2029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689872" y="2164556"/>
            <a:ext cx="3993356" cy="492919"/>
          </a:xfrm>
          <a:prstGeom prst="roundRect">
            <a:avLst>
              <a:gd name="adj" fmla="val 27053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4825603" y="2286000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4857393" y="231779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266" dirty="0"/>
          </a:p>
        </p:txBody>
      </p:sp>
      <p:sp>
        <p:nvSpPr>
          <p:cNvPr id="50" name="Text 47"/>
          <p:cNvSpPr/>
          <p:nvPr/>
        </p:nvSpPr>
        <p:spPr>
          <a:xfrm>
            <a:off x="5179219" y="2289572"/>
            <a:ext cx="33718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179219" y="2407444"/>
            <a:ext cx="348157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8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Lead investor seat + 2 board seats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689872" y="2750344"/>
            <a:ext cx="3993356" cy="492919"/>
          </a:xfrm>
          <a:prstGeom prst="roundRect">
            <a:avLst>
              <a:gd name="adj" fmla="val 27053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4825603" y="2871788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857393" y="290357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55" name="Text 52"/>
          <p:cNvSpPr/>
          <p:nvPr/>
        </p:nvSpPr>
        <p:spPr>
          <a:xfrm>
            <a:off x="5179219" y="2875359"/>
            <a:ext cx="33718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RUNWAY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179219" y="2993231"/>
            <a:ext cx="348157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spc="-8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18-month runway to Series B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4689872" y="3336131"/>
            <a:ext cx="3993356" cy="307181"/>
          </a:xfrm>
          <a:prstGeom prst="roundRect">
            <a:avLst>
              <a:gd name="adj" fmla="val 24806"/>
            </a:avLst>
          </a:prstGeom>
          <a:solidFill>
            <a:srgbClr val="8B9DAF">
              <a:alpha val="6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4807744" y="34254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59" name="Text 56"/>
          <p:cNvSpPr/>
          <p:nvPr/>
        </p:nvSpPr>
        <p:spPr>
          <a:xfrm>
            <a:off x="5022056" y="3425428"/>
            <a:ext cx="35433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 allocated.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Each dollar mapped to a subsidiary with audited milestones.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8820745" y="4854178"/>
            <a:ext cx="15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750" y="-857250"/>
            <a:ext cx="3000375" cy="3000375"/>
          </a:xfrm>
          <a:prstGeom prst="roundRect">
            <a:avLst>
              <a:gd name="adj" fmla="val 3174286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8288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· 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00354" y="462558"/>
            <a:ext cx="18436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71717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HARCH CORP · SERIES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8581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978694"/>
            <a:ext cx="4688586" cy="376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3"/>
              </a:lnSpc>
              <a:buNone/>
            </a:pPr>
            <a:r>
              <a:rPr lang="en-US" sz="2588" spc="-52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Leadership.</a:t>
            </a:r>
            <a:endParaRPr lang="en-US" sz="2588" dirty="0"/>
          </a:p>
        </p:txBody>
      </p:sp>
      <p:sp>
        <p:nvSpPr>
          <p:cNvPr id="7" name="Text 5"/>
          <p:cNvSpPr/>
          <p:nvPr/>
        </p:nvSpPr>
        <p:spPr>
          <a:xfrm>
            <a:off x="457200" y="1412677"/>
            <a:ext cx="4000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Strong founder, experienced advisors, clear recruitment plan for the eight subsidiaries.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0772" y="1698427"/>
            <a:ext cx="3993356" cy="565696"/>
          </a:xfrm>
          <a:prstGeom prst="roundRect">
            <a:avLst>
              <a:gd name="adj" fmla="val 23573"/>
            </a:avLst>
          </a:prstGeom>
          <a:solidFill>
            <a:srgbClr val="8B9DAF">
              <a:alpha val="5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2216" y="180558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4005" y="18373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921544" y="1802011"/>
            <a:ext cx="34147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 &amp; CEO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21544" y="1912739"/>
            <a:ext cx="3414713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Amine Harch El Korane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21544" y="2064097"/>
            <a:ext cx="341471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 of the 8-subsidiary thesis · Building in Public since 2024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2356991"/>
            <a:ext cx="3993356" cy="565696"/>
          </a:xfrm>
          <a:prstGeom prst="roundRect">
            <a:avLst>
              <a:gd name="adj" fmla="val 23573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2216" y="2464147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4005" y="249593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921544" y="2460575"/>
            <a:ext cx="352444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BOARD OF DIRECTORS · 7 MEMBERS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21544" y="2571304"/>
            <a:ext cx="3524441" cy="123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Independent · 2 PE · 2 Founder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21544" y="2722662"/>
            <a:ext cx="341471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 governance — independent oversight, capital expertise, founder control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0772" y="3015555"/>
            <a:ext cx="3993356" cy="714375"/>
          </a:xfrm>
          <a:prstGeom prst="roundRect">
            <a:avLst>
              <a:gd name="adj" fmla="val 18667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2216" y="3122712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4005" y="315450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921544" y="3127400"/>
            <a:ext cx="34147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11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ADVISORY COUNCIL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21544" y="3238128"/>
            <a:ext cx="3414713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Sector veterans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04363" y="3437037"/>
            <a:ext cx="463879" cy="200025"/>
          </a:xfrm>
          <a:prstGeom prst="roundRect">
            <a:avLst>
              <a:gd name="adj" fmla="val 285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21544" y="3447752"/>
            <a:ext cx="42951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EX-OCP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75967" y="3437037"/>
            <a:ext cx="572255" cy="200025"/>
          </a:xfrm>
          <a:prstGeom prst="roundRect">
            <a:avLst>
              <a:gd name="adj" fmla="val 285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97161" y="3447752"/>
            <a:ext cx="52986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EX-MASEN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53936" y="3437037"/>
            <a:ext cx="518127" cy="200025"/>
          </a:xfrm>
          <a:prstGeom prst="roundRect">
            <a:avLst>
              <a:gd name="adj" fmla="val 285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973126" y="3447752"/>
            <a:ext cx="47974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EX-ONEE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86300" y="785813"/>
            <a:ext cx="31288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SUBSIDIARY CEOS TO RECRUIT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29438" y="791170"/>
            <a:ext cx="11253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5B6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TARGET PROFILES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89872" y="992981"/>
            <a:ext cx="3993356" cy="257175"/>
          </a:xfrm>
          <a:prstGeom prst="roundRect">
            <a:avLst>
              <a:gd name="adj" fmla="val 2963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79169" y="1067991"/>
            <a:ext cx="2057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79194" y="10715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36" name="Text 34"/>
          <p:cNvSpPr/>
          <p:nvPr/>
        </p:nvSpPr>
        <p:spPr>
          <a:xfrm>
            <a:off x="5150644" y="1057275"/>
            <a:ext cx="314043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Intelligence CEO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97730" y="1037558"/>
            <a:ext cx="411440" cy="168021"/>
          </a:xfrm>
          <a:prstGeom prst="roundRect">
            <a:avLst>
              <a:gd name="adj" fmla="val 2834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12968" y="1046559"/>
            <a:ext cx="3809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8B9D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ex-AWS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89872" y="1314450"/>
            <a:ext cx="3993356" cy="257175"/>
          </a:xfrm>
          <a:prstGeom prst="roundRect">
            <a:avLst>
              <a:gd name="adj" fmla="val 2963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79169" y="1389459"/>
            <a:ext cx="2057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79194" y="139303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42" name="Text 40"/>
          <p:cNvSpPr/>
          <p:nvPr/>
        </p:nvSpPr>
        <p:spPr>
          <a:xfrm>
            <a:off x="5150644" y="1378744"/>
            <a:ext cx="340118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Energy CEO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05326" y="1359027"/>
            <a:ext cx="507398" cy="168021"/>
          </a:xfrm>
          <a:prstGeom prst="roundRect">
            <a:avLst>
              <a:gd name="adj" fmla="val 2834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124118" y="1368028"/>
            <a:ext cx="4698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8B9D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ex-MASEN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89872" y="1635919"/>
            <a:ext cx="3993356" cy="257175"/>
          </a:xfrm>
          <a:prstGeom prst="roundRect">
            <a:avLst>
              <a:gd name="adj" fmla="val 2963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779169" y="1710928"/>
            <a:ext cx="2057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79194" y="171450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48" name="Text 46"/>
          <p:cNvSpPr/>
          <p:nvPr/>
        </p:nvSpPr>
        <p:spPr>
          <a:xfrm>
            <a:off x="5150644" y="1700213"/>
            <a:ext cx="34432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Mining CEO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197730" y="1680496"/>
            <a:ext cx="411440" cy="168021"/>
          </a:xfrm>
          <a:prstGeom prst="roundRect">
            <a:avLst>
              <a:gd name="adj" fmla="val 2834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212968" y="1689497"/>
            <a:ext cx="3809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8B9D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ex-OCP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89872" y="1957388"/>
            <a:ext cx="3993356" cy="257175"/>
          </a:xfrm>
          <a:prstGeom prst="roundRect">
            <a:avLst>
              <a:gd name="adj" fmla="val 2963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779169" y="2032397"/>
            <a:ext cx="2057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79194" y="203596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984" dirty="0"/>
          </a:p>
        </p:txBody>
      </p:sp>
      <p:sp>
        <p:nvSpPr>
          <p:cNvPr id="54" name="Text 52"/>
          <p:cNvSpPr/>
          <p:nvPr/>
        </p:nvSpPr>
        <p:spPr>
          <a:xfrm>
            <a:off x="5150644" y="2021681"/>
            <a:ext cx="34432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Water CEO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151528" y="2001965"/>
            <a:ext cx="459419" cy="168021"/>
          </a:xfrm>
          <a:prstGeom prst="roundRect">
            <a:avLst>
              <a:gd name="adj" fmla="val 2834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168543" y="2010966"/>
            <a:ext cx="425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8B9D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ex-ONEE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689872" y="2278856"/>
            <a:ext cx="3993356" cy="257175"/>
          </a:xfrm>
          <a:prstGeom prst="roundRect">
            <a:avLst>
              <a:gd name="adj" fmla="val 2963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779169" y="2353866"/>
            <a:ext cx="2057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979194" y="23574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60" name="Text 58"/>
          <p:cNvSpPr/>
          <p:nvPr/>
        </p:nvSpPr>
        <p:spPr>
          <a:xfrm>
            <a:off x="5150644" y="2343150"/>
            <a:ext cx="34432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Agri CEO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105326" y="2323433"/>
            <a:ext cx="507398" cy="168021"/>
          </a:xfrm>
          <a:prstGeom prst="roundRect">
            <a:avLst>
              <a:gd name="adj" fmla="val 2834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8124118" y="2332434"/>
            <a:ext cx="4698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8B9D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ex-COPAG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89872" y="2600325"/>
            <a:ext cx="3993356" cy="257175"/>
          </a:xfrm>
          <a:prstGeom prst="roundRect">
            <a:avLst>
              <a:gd name="adj" fmla="val 2963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779169" y="2675334"/>
            <a:ext cx="2057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979194" y="267890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66" name="Text 64"/>
          <p:cNvSpPr/>
          <p:nvPr/>
        </p:nvSpPr>
        <p:spPr>
          <a:xfrm>
            <a:off x="5150644" y="2664619"/>
            <a:ext cx="29845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Cement CEO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745745" y="2644902"/>
            <a:ext cx="871046" cy="168021"/>
          </a:xfrm>
          <a:prstGeom prst="roundRect">
            <a:avLst>
              <a:gd name="adj" fmla="val 2834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7768605" y="2653903"/>
            <a:ext cx="82532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8B9D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ex-LafargeHolcim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689872" y="2921794"/>
            <a:ext cx="3993356" cy="257175"/>
          </a:xfrm>
          <a:prstGeom prst="roundRect">
            <a:avLst>
              <a:gd name="adj" fmla="val 2963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779169" y="2996803"/>
            <a:ext cx="2057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979194" y="300037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72" name="Text 70"/>
          <p:cNvSpPr/>
          <p:nvPr/>
        </p:nvSpPr>
        <p:spPr>
          <a:xfrm>
            <a:off x="5150644" y="2986088"/>
            <a:ext cx="286043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Technology CEO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923446" y="2966371"/>
            <a:ext cx="693346" cy="168021"/>
          </a:xfrm>
          <a:prstGeom prst="roundRect">
            <a:avLst>
              <a:gd name="adj" fmla="val 2834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7946306" y="2975372"/>
            <a:ext cx="64762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8B9D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ex-Accenture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689872" y="3243263"/>
            <a:ext cx="3993356" cy="257175"/>
          </a:xfrm>
          <a:prstGeom prst="roundRect">
            <a:avLst>
              <a:gd name="adj" fmla="val 2963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4779169" y="3318272"/>
            <a:ext cx="2057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979194" y="332184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B6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984" dirty="0"/>
          </a:p>
        </p:txBody>
      </p:sp>
      <p:sp>
        <p:nvSpPr>
          <p:cNvPr id="78" name="Text 76"/>
          <p:cNvSpPr/>
          <p:nvPr/>
        </p:nvSpPr>
        <p:spPr>
          <a:xfrm>
            <a:off x="5150644" y="3307556"/>
            <a:ext cx="303659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Finance CEO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790170" y="3287840"/>
            <a:ext cx="826621" cy="168021"/>
          </a:xfrm>
          <a:prstGeom prst="roundRect">
            <a:avLst>
              <a:gd name="adj" fmla="val 28345"/>
            </a:avLst>
          </a:prstGeom>
          <a:solidFill>
            <a:srgbClr val="8B9DAF">
              <a:alpha val="8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7813030" y="3296841"/>
            <a:ext cx="78090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8B9D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ex-Attijariwafa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689872" y="3593306"/>
            <a:ext cx="3993356" cy="450056"/>
          </a:xfrm>
          <a:prstGeom prst="roundRect">
            <a:avLst>
              <a:gd name="adj" fmla="val 16931"/>
            </a:avLst>
          </a:prstGeom>
          <a:solidFill>
            <a:srgbClr val="8B9DAF">
              <a:alpha val="6000"/>
            </a:srgbClr>
          </a:solidFill>
          <a:ln w="7144">
            <a:solidFill>
              <a:srgbClr val="8B9DA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4807744" y="37540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266" dirty="0"/>
          </a:p>
        </p:txBody>
      </p:sp>
      <p:sp>
        <p:nvSpPr>
          <p:cNvPr id="83" name="Text 81"/>
          <p:cNvSpPr/>
          <p:nvPr/>
        </p:nvSpPr>
        <p:spPr>
          <a:xfrm>
            <a:off x="5022056" y="3682603"/>
            <a:ext cx="2375681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01" kern="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2030 WORKFORCE TARGET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022056" y="3807619"/>
            <a:ext cx="1975827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3,200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employees by 2030 ·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90%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local hiring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8820745" y="4854178"/>
            <a:ext cx="15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9375" y="-1428750"/>
            <a:ext cx="4000500" cy="4000500"/>
          </a:xfrm>
          <a:prstGeom prst="ellipse">
            <a:avLst/>
          </a:prstGeom>
          <a:solidFill>
            <a:srgbClr val="8B9DA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4386263"/>
            <a:ext cx="82296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12564"/>
            <a:ext cx="228600" cy="7144"/>
          </a:xfrm>
          <a:prstGeom prst="rect">
            <a:avLst/>
          </a:prstGeom>
          <a:solidFill>
            <a:srgbClr val="8B9DA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525" y="457200"/>
            <a:ext cx="79152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86" kern="0" dirty="0">
                <a:solidFill>
                  <a:srgbClr val="8B9D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ESG &amp; IMPACT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03659"/>
            <a:ext cx="8229600" cy="48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44"/>
              </a:lnSpc>
              <a:buNone/>
            </a:pPr>
            <a:r>
              <a:rPr lang="en-US" sz="3375" b="1" spc="-84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net-zero. </a:t>
            </a:r>
            <a:pPr algn="l" indent="0" marL="0">
              <a:lnSpc>
                <a:spcPts val="3544"/>
              </a:lnSpc>
              <a:buNone/>
            </a:pPr>
            <a:r>
              <a:rPr lang="en-US" sz="3375" b="1" spc="-84" kern="0" dirty="0">
                <a:solidFill>
                  <a:srgbClr val="8B9D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impact.</a:t>
            </a:r>
            <a:endParaRPr lang="en-US" sz="3375" dirty="0"/>
          </a:p>
        </p:txBody>
      </p:sp>
      <p:sp>
        <p:nvSpPr>
          <p:cNvPr id="7" name="Text 5"/>
          <p:cNvSpPr/>
          <p:nvPr/>
        </p:nvSpPr>
        <p:spPr>
          <a:xfrm>
            <a:off x="457200" y="1253728"/>
            <a:ext cx="5429250" cy="203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Net-zero reached through dedicated renewable infrastructure — not offset purchasing.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460772" y="1688381"/>
            <a:ext cx="1943100" cy="1477194"/>
          </a:xfrm>
          <a:prstGeom prst="roundRect">
            <a:avLst>
              <a:gd name="adj" fmla="val 1031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87769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828" dirty="0"/>
          </a:p>
        </p:txBody>
      </p:sp>
      <p:sp>
        <p:nvSpPr>
          <p:cNvPr id="10" name="Text 8"/>
          <p:cNvSpPr/>
          <p:nvPr/>
        </p:nvSpPr>
        <p:spPr>
          <a:xfrm>
            <a:off x="621506" y="2192015"/>
            <a:ext cx="1621631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2030</a:t>
            </a:r>
            <a:endParaRPr lang="en-US" sz="3263" dirty="0"/>
          </a:p>
        </p:txBody>
      </p:sp>
      <p:sp>
        <p:nvSpPr>
          <p:cNvPr id="11" name="Text 9"/>
          <p:cNvSpPr/>
          <p:nvPr/>
        </p:nvSpPr>
        <p:spPr>
          <a:xfrm>
            <a:off x="621506" y="2706365"/>
            <a:ext cx="1621631" cy="1286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Net-zero target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506" y="2862411"/>
            <a:ext cx="1718929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spc="12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offsets · dedicated renewables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53891" y="1688381"/>
            <a:ext cx="1943100" cy="1477194"/>
          </a:xfrm>
          <a:prstGeom prst="roundRect">
            <a:avLst>
              <a:gd name="adj" fmla="val 1031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14625" y="187769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828" dirty="0"/>
          </a:p>
        </p:txBody>
      </p:sp>
      <p:sp>
        <p:nvSpPr>
          <p:cNvPr id="15" name="Text 13"/>
          <p:cNvSpPr/>
          <p:nvPr/>
        </p:nvSpPr>
        <p:spPr>
          <a:xfrm>
            <a:off x="2714625" y="2192015"/>
            <a:ext cx="1621631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89%</a:t>
            </a:r>
            <a:endParaRPr lang="en-US" sz="3263" dirty="0"/>
          </a:p>
        </p:txBody>
      </p:sp>
      <p:sp>
        <p:nvSpPr>
          <p:cNvPr id="16" name="Text 14"/>
          <p:cNvSpPr/>
          <p:nvPr/>
        </p:nvSpPr>
        <p:spPr>
          <a:xfrm>
            <a:off x="2714625" y="2706365"/>
            <a:ext cx="1621631" cy="1286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Below industry carbon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14625" y="2862411"/>
            <a:ext cx="1621631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spc="12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vs. hyperscaler average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47009" y="1688381"/>
            <a:ext cx="1943100" cy="1477194"/>
          </a:xfrm>
          <a:prstGeom prst="roundRect">
            <a:avLst>
              <a:gd name="adj" fmla="val 1031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07744" y="187769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828" dirty="0"/>
          </a:p>
        </p:txBody>
      </p:sp>
      <p:sp>
        <p:nvSpPr>
          <p:cNvPr id="20" name="Text 18"/>
          <p:cNvSpPr/>
          <p:nvPr/>
        </p:nvSpPr>
        <p:spPr>
          <a:xfrm>
            <a:off x="4807744" y="2192015"/>
            <a:ext cx="1621631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3,200</a:t>
            </a:r>
            <a:endParaRPr lang="en-US" sz="3263" dirty="0"/>
          </a:p>
        </p:txBody>
      </p:sp>
      <p:sp>
        <p:nvSpPr>
          <p:cNvPr id="21" name="Text 19"/>
          <p:cNvSpPr/>
          <p:nvPr/>
        </p:nvSpPr>
        <p:spPr>
          <a:xfrm>
            <a:off x="4807744" y="2706365"/>
            <a:ext cx="1621631" cy="1286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Jobs by 2030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7744" y="2862411"/>
            <a:ext cx="1621631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spc="12" kern="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90% local hiring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40128" y="1688381"/>
            <a:ext cx="1943100" cy="1477194"/>
          </a:xfrm>
          <a:prstGeom prst="roundRect">
            <a:avLst>
              <a:gd name="adj" fmla="val 1031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00863" y="187769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25" name="Text 23"/>
          <p:cNvSpPr/>
          <p:nvPr/>
        </p:nvSpPr>
        <p:spPr>
          <a:xfrm>
            <a:off x="6900863" y="2192015"/>
            <a:ext cx="1621631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b="1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3.2M</a:t>
            </a:r>
            <a:endParaRPr lang="en-US" sz="3263" dirty="0"/>
          </a:p>
        </p:txBody>
      </p:sp>
      <p:sp>
        <p:nvSpPr>
          <p:cNvPr id="26" name="Text 24"/>
          <p:cNvSpPr/>
          <p:nvPr/>
        </p:nvSpPr>
        <p:spPr>
          <a:xfrm>
            <a:off x="6900863" y="2706365"/>
            <a:ext cx="1621631" cy="1286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tCO₂ offset / year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00863" y="2862411"/>
            <a:ext cx="1621631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spc="12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Renewable capacity owned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5523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671513" y="4546997"/>
            <a:ext cx="312293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ISO 14001, LEED, BREEAM, SBTi certified. </a:t>
            </a:r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CC BY-NC-SA open data.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29116" y="4557713"/>
            <a:ext cx="57546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11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5114" y="4557713"/>
            <a:ext cx="914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71717A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25954" y="4557713"/>
            <a:ext cx="16084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84220" y="4854178"/>
            <a:ext cx="4504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3063" y="-357187"/>
            <a:ext cx="5857875" cy="5857875"/>
          </a:xfrm>
          <a:prstGeom prst="ellipse">
            <a:avLst/>
          </a:prstGeom>
          <a:solidFill>
            <a:srgbClr val="8B9DA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49493" y="-571500"/>
            <a:ext cx="1594507" cy="3410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63"/>
              </a:lnSpc>
              <a:buNone/>
            </a:pPr>
            <a:r>
              <a:rPr lang="en-US" sz="29250" b="1" spc="-1462" kern="0" dirty="0">
                <a:solidFill>
                  <a:srgbClr val="FFFFFF">
                    <a:alpha val="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$</a:t>
            </a:r>
            <a:endParaRPr lang="en-US" sz="29250" dirty="0"/>
          </a:p>
        </p:txBody>
      </p:sp>
      <p:sp>
        <p:nvSpPr>
          <p:cNvPr id="4" name="Text 2"/>
          <p:cNvSpPr/>
          <p:nvPr/>
        </p:nvSpPr>
        <p:spPr>
          <a:xfrm>
            <a:off x="4032647" y="992200"/>
            <a:ext cx="200025" cy="7144"/>
          </a:xfrm>
          <a:prstGeom prst="rect">
            <a:avLst/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8397" y="936836"/>
            <a:ext cx="8113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86" kern="0" dirty="0">
                <a:solidFill>
                  <a:srgbClr val="8B9D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ASK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11217" y="992200"/>
            <a:ext cx="200025" cy="7144"/>
          </a:xfrm>
          <a:prstGeom prst="rect">
            <a:avLst/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39504" y="1211870"/>
            <a:ext cx="6106511" cy="1360688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50800" dir="16200000">
              <a:srgbClr val="8B9DAF">
                <a:alpha val="40000"/>
              </a:srgbClr>
            </a:outerShdw>
          </a:effectLst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43"/>
              </a:lnSpc>
              <a:buNone/>
            </a:pPr>
            <a:r>
              <a:rPr lang="en-US" sz="11025" b="1" spc="-551" kern="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$200M</a:t>
            </a:r>
            <a:endParaRPr lang="en-US" sz="11025" dirty="0"/>
          </a:p>
        </p:txBody>
      </p:sp>
      <p:sp>
        <p:nvSpPr>
          <p:cNvPr id="8" name="Text 6"/>
          <p:cNvSpPr/>
          <p:nvPr/>
        </p:nvSpPr>
        <p:spPr>
          <a:xfrm>
            <a:off x="3563838" y="2599990"/>
            <a:ext cx="2766089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248" kern="0" dirty="0">
                <a:solidFill>
                  <a:srgbClr val="8B9D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SERIES A · Q1 2029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1075134" y="3139343"/>
            <a:ext cx="1657350" cy="685019"/>
          </a:xfrm>
          <a:prstGeom prst="roundRect">
            <a:avLst>
              <a:gd name="adj" fmla="val 1946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96062" y="3300078"/>
            <a:ext cx="815495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$800M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94565" y="3545756"/>
            <a:ext cx="141837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POST-MONEY VALUATION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53928" y="3139343"/>
            <a:ext cx="1657350" cy="685019"/>
          </a:xfrm>
          <a:prstGeom prst="roundRect">
            <a:avLst>
              <a:gd name="adj" fmla="val 1946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19772" y="3300078"/>
            <a:ext cx="925551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 investor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3422464" y="3502893"/>
            <a:ext cx="52027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SOUGHT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32722" y="3139343"/>
            <a:ext cx="1657350" cy="685019"/>
          </a:xfrm>
          <a:prstGeom prst="roundRect">
            <a:avLst>
              <a:gd name="adj" fmla="val 1946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93531" y="3300078"/>
            <a:ext cx="735731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Board seat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4781842" y="3502893"/>
            <a:ext cx="135911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 INFORMATION RIGHTS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11516" y="3139343"/>
            <a:ext cx="1657350" cy="685019"/>
          </a:xfrm>
          <a:prstGeom prst="roundRect">
            <a:avLst>
              <a:gd name="adj" fmla="val 19467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32443" y="3300078"/>
            <a:ext cx="815495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mo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19903" y="3545756"/>
            <a:ext cx="12405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RUNWAY TO SERIES 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87564" y="406724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3373301" y="4056534"/>
            <a:ext cx="11291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ir@harchcorp.com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08153" y="4081537"/>
            <a:ext cx="7144" cy="10001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86746" y="406724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4872484" y="4056534"/>
            <a:ext cx="1356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+212 5 22 00 00 02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84220" y="4854178"/>
            <a:ext cx="4504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5938" y="-214312"/>
            <a:ext cx="5572125" cy="5572125"/>
          </a:xfrm>
          <a:prstGeom prst="ellipse">
            <a:avLst/>
          </a:prstGeom>
          <a:solidFill>
            <a:srgbClr val="8B9DA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05051" y="1393366"/>
            <a:ext cx="171450" cy="7144"/>
          </a:xfrm>
          <a:prstGeom prst="rect">
            <a:avLst/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2226" y="1327286"/>
            <a:ext cx="14987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307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67499" y="1393366"/>
            <a:ext cx="171450" cy="7144"/>
          </a:xfrm>
          <a:prstGeom prst="rect">
            <a:avLst/>
          </a:prstGeom>
          <a:solidFill>
            <a:srgbClr val="8B9D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1709477"/>
            <a:ext cx="8595248" cy="78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33"/>
              </a:lnSpc>
              <a:buNone/>
            </a:pPr>
            <a:r>
              <a:rPr lang="en-US" sz="5850" b="1" spc="-205" kern="0" dirty="0">
                <a:solidFill>
                  <a:srgbClr val="FAFA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Building </a:t>
            </a:r>
            <a:pPr algn="ctr" indent="0" marL="0">
              <a:lnSpc>
                <a:spcPts val="5733"/>
              </a:lnSpc>
              <a:buNone/>
            </a:pPr>
            <a:r>
              <a:rPr lang="en-US" sz="5850" b="1" i="1" spc="-205" kern="0" dirty="0">
                <a:solidFill>
                  <a:srgbClr val="8B9D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Public.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2877784" y="2608920"/>
            <a:ext cx="3388321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A1A1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309 pages of analysis. 26 videos. Free download.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364818" y="3069692"/>
            <a:ext cx="2414364" cy="378619"/>
          </a:xfrm>
          <a:prstGeom prst="roundRect">
            <a:avLst>
              <a:gd name="adj" fmla="val 251572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68415" y="31947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B9D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266" dirty="0"/>
          </a:p>
        </p:txBody>
      </p:sp>
      <p:sp>
        <p:nvSpPr>
          <p:cNvPr id="10" name="Text 8"/>
          <p:cNvSpPr/>
          <p:nvPr/>
        </p:nvSpPr>
        <p:spPr>
          <a:xfrm>
            <a:off x="3797015" y="3173276"/>
            <a:ext cx="17785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18" kern="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harchcorp.com/research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61285" y="320185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171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184661" y="368405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171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384686" y="3666195"/>
            <a:ext cx="13853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amine@harchcorp.com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81054" y="3691198"/>
            <a:ext cx="7144" cy="10001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2498" y="3682268"/>
            <a:ext cx="16101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86" kern="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SERIES A · Q1 2029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" y="4854178"/>
            <a:ext cx="8378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3" kern="0" dirty="0">
                <a:solidFill>
                  <a:srgbClr val="7171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HARCH CORP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84220" y="4854178"/>
            <a:ext cx="4504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171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2026-07-07T00:05:32Z</dcterms:created>
  <dcterms:modified xsi:type="dcterms:W3CDTF">2026-07-07T00:05:32Z</dcterms:modified>
</cp:coreProperties>
</file>